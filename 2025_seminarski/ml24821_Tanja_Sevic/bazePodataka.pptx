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3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1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32"/>
            <a:ext cx="2356674" cy="6853285"/>
            <a:chOff x="6627813" y="195454"/>
            <a:chExt cx="1952625" cy="5678297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454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3/25/2026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36788" y="4310654"/>
            <a:ext cx="8915399" cy="933450"/>
          </a:xfrm>
        </p:spPr>
        <p:txBody>
          <a:bodyPr>
            <a:noAutofit/>
          </a:bodyPr>
          <a:lstStyle/>
          <a:p>
            <a:r>
              <a:rPr lang="sr-Latn-RS" sz="6000" dirty="0" smtClean="0"/>
              <a:t>Baze podataka</a:t>
            </a:r>
            <a:endParaRPr lang="en-US" sz="6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61113" y="5334000"/>
            <a:ext cx="2840037" cy="893512"/>
          </a:xfrm>
        </p:spPr>
        <p:txBody>
          <a:bodyPr/>
          <a:lstStyle/>
          <a:p>
            <a:r>
              <a:rPr lang="sr-Latn-RS" dirty="0" smtClean="0"/>
              <a:t>Tanja Šević 248/21</a:t>
            </a:r>
            <a:endParaRPr lang="en-US" dirty="0"/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8170863" y="5870652"/>
            <a:ext cx="3905250" cy="89351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None/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sr-Latn-RS" sz="1200" dirty="0"/>
              <a:t>Metodika nastave </a:t>
            </a:r>
            <a:r>
              <a:rPr lang="sr-Latn-RS" sz="1200"/>
              <a:t>matematike </a:t>
            </a:r>
            <a:r>
              <a:rPr lang="sr-Latn-RS" sz="1200" dirty="0"/>
              <a:t>A</a:t>
            </a:r>
            <a:endParaRPr lang="sr-Latn-RS" sz="1200" dirty="0" smtClean="0"/>
          </a:p>
          <a:p>
            <a:pPr algn="r"/>
            <a:r>
              <a:rPr lang="sr-Latn-RS" sz="1200" dirty="0" smtClean="0"/>
              <a:t>Prof. Sana Stojanović Đurđević</a:t>
            </a:r>
          </a:p>
          <a:p>
            <a:pPr algn="r"/>
            <a:r>
              <a:rPr lang="sr-Latn-RS" sz="1200" dirty="0"/>
              <a:t>m</a:t>
            </a:r>
            <a:r>
              <a:rPr lang="sr-Latn-RS" sz="1200" dirty="0" smtClean="0"/>
              <a:t>art 2026.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220711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9751" y="700310"/>
            <a:ext cx="9725562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Pojam</a:t>
            </a:r>
            <a:r>
              <a:rPr lang="en-US" sz="4000" dirty="0"/>
              <a:t> </a:t>
            </a:r>
            <a:r>
              <a:rPr lang="en-US" sz="4000" dirty="0" err="1"/>
              <a:t>baze</a:t>
            </a:r>
            <a:r>
              <a:rPr lang="en-US" sz="4000" dirty="0"/>
              <a:t> </a:t>
            </a:r>
            <a:r>
              <a:rPr lang="en-US" sz="4000" dirty="0" err="1"/>
              <a:t>podataka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9751" y="1819275"/>
            <a:ext cx="9191623" cy="4091947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Baza</a:t>
            </a:r>
            <a:r>
              <a:rPr lang="en-US" sz="2800" dirty="0" smtClean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 je </a:t>
            </a:r>
            <a:r>
              <a:rPr lang="en-US" sz="2800" dirty="0" err="1"/>
              <a:t>organizovana</a:t>
            </a:r>
            <a:r>
              <a:rPr lang="en-US" sz="2800" dirty="0"/>
              <a:t> </a:t>
            </a:r>
            <a:r>
              <a:rPr lang="en-US" sz="2800" dirty="0" err="1"/>
              <a:t>kolekcija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 </a:t>
            </a:r>
            <a:r>
              <a:rPr lang="en-US" sz="2800" dirty="0" err="1"/>
              <a:t>sačuvana</a:t>
            </a:r>
            <a:r>
              <a:rPr lang="en-US" sz="2800" dirty="0"/>
              <a:t> u </a:t>
            </a:r>
            <a:r>
              <a:rPr lang="en-US" sz="2800" dirty="0" err="1"/>
              <a:t>računaru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Strukturirani</a:t>
            </a:r>
            <a:r>
              <a:rPr lang="en-US" sz="2800" dirty="0" smtClean="0"/>
              <a:t> </a:t>
            </a:r>
            <a:r>
              <a:rPr lang="en-US" sz="2800" dirty="0" err="1"/>
              <a:t>skup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 </a:t>
            </a:r>
            <a:r>
              <a:rPr lang="en-US" sz="2800" dirty="0" err="1"/>
              <a:t>kojim</a:t>
            </a:r>
            <a:r>
              <a:rPr lang="en-US" sz="2800" dirty="0"/>
              <a:t> </a:t>
            </a:r>
            <a:r>
              <a:rPr lang="en-US" sz="2800" dirty="0" err="1"/>
              <a:t>upravlja</a:t>
            </a:r>
            <a:r>
              <a:rPr lang="en-US" sz="2800" dirty="0"/>
              <a:t> </a:t>
            </a:r>
            <a:r>
              <a:rPr lang="en-US" sz="2800" dirty="0" err="1"/>
              <a:t>poseban</a:t>
            </a:r>
            <a:r>
              <a:rPr lang="en-US" sz="2800" dirty="0"/>
              <a:t> </a:t>
            </a:r>
            <a:r>
              <a:rPr lang="en-US" sz="2800" dirty="0" err="1"/>
              <a:t>softver</a:t>
            </a:r>
            <a:r>
              <a:rPr lang="en-US" sz="2800" dirty="0"/>
              <a:t> (SUBP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Omogućava</a:t>
            </a:r>
            <a:r>
              <a:rPr lang="en-US" sz="2800" dirty="0" smtClean="0"/>
              <a:t> </a:t>
            </a:r>
            <a:r>
              <a:rPr lang="en-US" sz="2800" dirty="0" err="1"/>
              <a:t>lako</a:t>
            </a:r>
            <a:r>
              <a:rPr lang="en-US" sz="2800" dirty="0"/>
              <a:t> </a:t>
            </a:r>
            <a:r>
              <a:rPr lang="en-US" sz="2800" dirty="0" err="1"/>
              <a:t>čuvanje</a:t>
            </a:r>
            <a:r>
              <a:rPr lang="en-US" sz="2800" dirty="0"/>
              <a:t>, </a:t>
            </a:r>
            <a:r>
              <a:rPr lang="en-US" sz="2800" dirty="0" err="1"/>
              <a:t>pretragu</a:t>
            </a:r>
            <a:r>
              <a:rPr lang="en-US" sz="2800" dirty="0"/>
              <a:t>, </a:t>
            </a:r>
            <a:r>
              <a:rPr lang="en-US" sz="2800" dirty="0" err="1"/>
              <a:t>izmenu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upravljanje</a:t>
            </a:r>
            <a:r>
              <a:rPr lang="en-US" sz="2800" dirty="0"/>
              <a:t> </a:t>
            </a:r>
            <a:r>
              <a:rPr lang="en-US" sz="2800" dirty="0" err="1"/>
              <a:t>informacijama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64041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9639" y="624110"/>
            <a:ext cx="9724973" cy="1280890"/>
          </a:xfrm>
        </p:spPr>
        <p:txBody>
          <a:bodyPr>
            <a:normAutofit/>
          </a:bodyPr>
          <a:lstStyle/>
          <a:p>
            <a:r>
              <a:rPr lang="sr-Latn-RS" sz="4000" dirty="0"/>
              <a:t>Zašto su baze podataka važne?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79640" y="1905000"/>
            <a:ext cx="9259836" cy="4006222"/>
          </a:xfrm>
        </p:spPr>
        <p:txBody>
          <a:bodyPr/>
          <a:lstStyle/>
          <a:p>
            <a:r>
              <a:rPr lang="en-US" sz="2800" dirty="0" err="1" smtClean="0"/>
              <a:t>Omogućavaju</a:t>
            </a:r>
            <a:r>
              <a:rPr lang="en-US" sz="2800" dirty="0" smtClean="0"/>
              <a:t> </a:t>
            </a:r>
            <a:r>
              <a:rPr lang="en-US" sz="2800" dirty="0" err="1"/>
              <a:t>brzu</a:t>
            </a:r>
            <a:r>
              <a:rPr lang="en-US" sz="2800" dirty="0"/>
              <a:t> </a:t>
            </a:r>
            <a:r>
              <a:rPr lang="en-US" sz="2800" dirty="0" err="1"/>
              <a:t>dostupnost</a:t>
            </a:r>
            <a:r>
              <a:rPr lang="en-US" sz="2800" dirty="0"/>
              <a:t> </a:t>
            </a:r>
            <a:r>
              <a:rPr lang="en-US" sz="2800" dirty="0" err="1"/>
              <a:t>velikih</a:t>
            </a:r>
            <a:r>
              <a:rPr lang="en-US" sz="2800" dirty="0"/>
              <a:t> </a:t>
            </a:r>
            <a:r>
              <a:rPr lang="en-US" sz="2800" dirty="0" err="1"/>
              <a:t>količina</a:t>
            </a:r>
            <a:r>
              <a:rPr lang="en-US" sz="2800" dirty="0"/>
              <a:t> </a:t>
            </a:r>
            <a:r>
              <a:rPr lang="en-US" sz="2800" dirty="0" err="1"/>
              <a:t>informacija</a:t>
            </a:r>
            <a:r>
              <a:rPr lang="en-US" sz="2800" dirty="0"/>
              <a:t> u </a:t>
            </a:r>
            <a:r>
              <a:rPr lang="en-US" sz="2800" dirty="0" err="1"/>
              <a:t>svakom</a:t>
            </a:r>
            <a:r>
              <a:rPr lang="en-US" sz="2800" dirty="0"/>
              <a:t> </a:t>
            </a:r>
            <a:r>
              <a:rPr lang="en-US" sz="2800" dirty="0" err="1"/>
              <a:t>trenutku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Primer</a:t>
            </a:r>
            <a:r>
              <a:rPr lang="en-US" sz="2800" dirty="0"/>
              <a:t>: Google </a:t>
            </a:r>
            <a:r>
              <a:rPr lang="en-US" sz="2800" dirty="0" err="1"/>
              <a:t>pretraga</a:t>
            </a:r>
            <a:r>
              <a:rPr lang="en-US" sz="2800" dirty="0"/>
              <a:t> </a:t>
            </a:r>
            <a:r>
              <a:rPr lang="en-US" sz="2800" dirty="0" err="1"/>
              <a:t>ili</a:t>
            </a:r>
            <a:r>
              <a:rPr lang="en-US" sz="2800" dirty="0"/>
              <a:t> </a:t>
            </a:r>
            <a:r>
              <a:rPr lang="en-US" sz="2800" dirty="0" err="1"/>
              <a:t>personalizovani</a:t>
            </a:r>
            <a:r>
              <a:rPr lang="en-US" sz="2800" dirty="0"/>
              <a:t> </a:t>
            </a:r>
            <a:r>
              <a:rPr lang="en-US" sz="2800" dirty="0" err="1"/>
              <a:t>predlozi</a:t>
            </a:r>
            <a:r>
              <a:rPr lang="en-US" sz="2800" dirty="0"/>
              <a:t> </a:t>
            </a:r>
            <a:r>
              <a:rPr lang="en-US" sz="2800" dirty="0" err="1"/>
              <a:t>na</a:t>
            </a:r>
            <a:r>
              <a:rPr lang="en-US" sz="2800" dirty="0"/>
              <a:t> YouTube-u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Bez </a:t>
            </a:r>
            <a:r>
              <a:rPr lang="en-US" sz="2800" dirty="0" err="1"/>
              <a:t>baza</a:t>
            </a:r>
            <a:r>
              <a:rPr lang="en-US" sz="2800" dirty="0"/>
              <a:t>, </a:t>
            </a:r>
            <a:r>
              <a:rPr lang="en-US" sz="2800" dirty="0" err="1"/>
              <a:t>sistemi</a:t>
            </a:r>
            <a:r>
              <a:rPr lang="en-US" sz="2800" dirty="0"/>
              <a:t> ne bi </a:t>
            </a:r>
            <a:r>
              <a:rPr lang="en-US" sz="2800" dirty="0" err="1"/>
              <a:t>mogli</a:t>
            </a:r>
            <a:r>
              <a:rPr lang="en-US" sz="2800" dirty="0"/>
              <a:t> da "</a:t>
            </a:r>
            <a:r>
              <a:rPr lang="en-US" sz="2800" dirty="0" err="1"/>
              <a:t>pamte</a:t>
            </a:r>
            <a:r>
              <a:rPr lang="en-US" sz="2800" dirty="0"/>
              <a:t>" </a:t>
            </a:r>
            <a:r>
              <a:rPr lang="en-US" sz="2800" dirty="0" err="1"/>
              <a:t>naše</a:t>
            </a:r>
            <a:r>
              <a:rPr lang="en-US" sz="2800" dirty="0"/>
              <a:t> </a:t>
            </a:r>
            <a:r>
              <a:rPr lang="en-US" sz="2800" dirty="0" err="1"/>
              <a:t>izbore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 smtClean="0"/>
              <a:t>podat</a:t>
            </a:r>
            <a:r>
              <a:rPr lang="sr-Latn-RS" sz="2800" dirty="0" smtClean="0"/>
              <a:t>ke.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34081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Primena</a:t>
            </a:r>
            <a:r>
              <a:rPr lang="en-US" sz="4000" dirty="0"/>
              <a:t> </a:t>
            </a:r>
            <a:r>
              <a:rPr lang="en-US" sz="4000" dirty="0" err="1"/>
              <a:t>baza</a:t>
            </a:r>
            <a:r>
              <a:rPr lang="en-US" sz="4000" dirty="0"/>
              <a:t> </a:t>
            </a:r>
            <a:r>
              <a:rPr lang="en-US" sz="4000" dirty="0" err="1" smtClean="0"/>
              <a:t>podataka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986116"/>
            <a:ext cx="8915400" cy="3995584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Škole</a:t>
            </a:r>
            <a:r>
              <a:rPr lang="en-US" sz="2800" dirty="0" smtClean="0"/>
              <a:t>: </a:t>
            </a:r>
            <a:r>
              <a:rPr lang="en-US" sz="2800" dirty="0" err="1" smtClean="0"/>
              <a:t>spiskovi</a:t>
            </a:r>
            <a:r>
              <a:rPr lang="en-US" sz="2800" dirty="0" smtClean="0"/>
              <a:t> </a:t>
            </a:r>
            <a:r>
              <a:rPr lang="en-US" sz="2800" dirty="0" err="1" smtClean="0"/>
              <a:t>učenika</a:t>
            </a:r>
            <a:r>
              <a:rPr lang="en-US" sz="2800" dirty="0" smtClean="0"/>
              <a:t>, </a:t>
            </a:r>
            <a:r>
              <a:rPr lang="en-US" sz="2800" dirty="0" err="1" smtClean="0"/>
              <a:t>ocene</a:t>
            </a:r>
            <a:r>
              <a:rPr lang="en-US" sz="2800" dirty="0" smtClean="0"/>
              <a:t>, </a:t>
            </a:r>
            <a:r>
              <a:rPr lang="en-US" sz="2800" dirty="0" err="1" smtClean="0"/>
              <a:t>izostanci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Prodavnice</a:t>
            </a:r>
            <a:r>
              <a:rPr lang="en-US" sz="2800" dirty="0"/>
              <a:t>: </a:t>
            </a:r>
            <a:r>
              <a:rPr lang="en-US" sz="2800" dirty="0" err="1"/>
              <a:t>spiskovi</a:t>
            </a:r>
            <a:r>
              <a:rPr lang="en-US" sz="2800" dirty="0"/>
              <a:t> </a:t>
            </a:r>
            <a:r>
              <a:rPr lang="en-US" sz="2800" dirty="0" err="1"/>
              <a:t>proizvoda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cene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Bolnice</a:t>
            </a:r>
            <a:r>
              <a:rPr lang="en-US" sz="2800" dirty="0"/>
              <a:t>: </a:t>
            </a:r>
            <a:r>
              <a:rPr lang="en-US" sz="2800" dirty="0" err="1"/>
              <a:t>kartoni</a:t>
            </a:r>
            <a:r>
              <a:rPr lang="en-US" sz="2800" dirty="0"/>
              <a:t> </a:t>
            </a:r>
            <a:r>
              <a:rPr lang="en-US" sz="2800" dirty="0" err="1"/>
              <a:t>pacijenata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termini </a:t>
            </a:r>
            <a:r>
              <a:rPr lang="en-US" sz="2800" dirty="0" err="1"/>
              <a:t>pregleda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Internet</a:t>
            </a:r>
            <a:r>
              <a:rPr lang="en-US" sz="2800" dirty="0"/>
              <a:t>: </a:t>
            </a:r>
            <a:r>
              <a:rPr lang="en-US" sz="2800" dirty="0" err="1"/>
              <a:t>društvene</a:t>
            </a:r>
            <a:r>
              <a:rPr lang="en-US" sz="2800" dirty="0"/>
              <a:t> </a:t>
            </a:r>
            <a:r>
              <a:rPr lang="en-US" sz="2800" dirty="0" err="1"/>
              <a:t>mreže</a:t>
            </a:r>
            <a:r>
              <a:rPr lang="en-US" sz="2800" dirty="0"/>
              <a:t>, </a:t>
            </a:r>
            <a:r>
              <a:rPr lang="en-US" sz="2800" dirty="0" err="1"/>
              <a:t>onlajn</a:t>
            </a:r>
            <a:r>
              <a:rPr lang="en-US" sz="2800" dirty="0"/>
              <a:t> </a:t>
            </a:r>
            <a:r>
              <a:rPr lang="en-US" sz="2800" dirty="0" err="1"/>
              <a:t>prodavnice</a:t>
            </a:r>
            <a:r>
              <a:rPr lang="en-US" sz="2800" dirty="0"/>
              <a:t>, </a:t>
            </a:r>
            <a:r>
              <a:rPr lang="en-US" sz="2800" dirty="0" err="1"/>
              <a:t>striming</a:t>
            </a:r>
            <a:r>
              <a:rPr lang="en-US" sz="2800" dirty="0"/>
              <a:t> </a:t>
            </a:r>
            <a:r>
              <a:rPr lang="en-US" sz="2800" dirty="0" err="1"/>
              <a:t>servisi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8836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 fontScale="90000"/>
          </a:bodyPr>
          <a:lstStyle/>
          <a:p>
            <a:r>
              <a:rPr lang="pl-PL" sz="4000" dirty="0"/>
              <a:t>Sistemi za upravljanje bazama podataka (SUBP</a:t>
            </a:r>
            <a:r>
              <a:rPr lang="pl-PL" sz="4000" dirty="0" smtClean="0"/>
              <a:t>)</a:t>
            </a:r>
            <a:endParaRPr lang="pl-PL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8" y="2047875"/>
            <a:ext cx="9828571" cy="4467224"/>
          </a:xfrm>
        </p:spPr>
        <p:txBody>
          <a:bodyPr>
            <a:normAutofit/>
          </a:bodyPr>
          <a:lstStyle/>
          <a:p>
            <a:r>
              <a:rPr lang="en-US" sz="2800" dirty="0" smtClean="0"/>
              <a:t>SQLite</a:t>
            </a:r>
            <a:r>
              <a:rPr lang="en-US" sz="2800" dirty="0"/>
              <a:t>: </a:t>
            </a:r>
            <a:r>
              <a:rPr lang="en-US" sz="2800" dirty="0" err="1"/>
              <a:t>najkorišćeniji</a:t>
            </a:r>
            <a:r>
              <a:rPr lang="en-US" sz="2800" dirty="0"/>
              <a:t>, </a:t>
            </a:r>
            <a:r>
              <a:rPr lang="en-US" sz="2800" dirty="0" err="1"/>
              <a:t>ugrađen</a:t>
            </a:r>
            <a:r>
              <a:rPr lang="en-US" sz="2800" dirty="0"/>
              <a:t> u </a:t>
            </a:r>
            <a:r>
              <a:rPr lang="en-US" sz="2800" dirty="0" err="1"/>
              <a:t>mobilne</a:t>
            </a:r>
            <a:r>
              <a:rPr lang="en-US" sz="2800" dirty="0"/>
              <a:t> </a:t>
            </a:r>
            <a:r>
              <a:rPr lang="en-US" sz="2800" dirty="0" err="1"/>
              <a:t>aplikacije</a:t>
            </a:r>
            <a:r>
              <a:rPr lang="en-US" sz="2800" dirty="0"/>
              <a:t>, </a:t>
            </a:r>
            <a:r>
              <a:rPr lang="en-US" sz="2800" dirty="0" err="1"/>
              <a:t>čuva</a:t>
            </a:r>
            <a:r>
              <a:rPr lang="en-US" sz="2800" dirty="0"/>
              <a:t> </a:t>
            </a:r>
            <a:r>
              <a:rPr lang="en-US" sz="2800" dirty="0" err="1"/>
              <a:t>bazu</a:t>
            </a:r>
            <a:r>
              <a:rPr lang="en-US" sz="2800" dirty="0"/>
              <a:t> u </a:t>
            </a:r>
            <a:r>
              <a:rPr lang="en-US" sz="2800" dirty="0" err="1"/>
              <a:t>jednom</a:t>
            </a:r>
            <a:r>
              <a:rPr lang="en-US" sz="2800" dirty="0"/>
              <a:t> </a:t>
            </a:r>
            <a:r>
              <a:rPr lang="en-US" sz="2800" dirty="0" err="1"/>
              <a:t>fajlu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MySQL</a:t>
            </a:r>
            <a:r>
              <a:rPr lang="en-US" sz="2800" dirty="0"/>
              <a:t>: </a:t>
            </a:r>
            <a:r>
              <a:rPr lang="en-US" sz="2800" dirty="0" err="1"/>
              <a:t>brz</a:t>
            </a:r>
            <a:r>
              <a:rPr lang="en-US" sz="2800" dirty="0"/>
              <a:t>, </a:t>
            </a:r>
            <a:r>
              <a:rPr lang="en-US" sz="2800" dirty="0" err="1"/>
              <a:t>pouzdan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besplatan</a:t>
            </a:r>
            <a:r>
              <a:rPr lang="en-US" sz="2800" dirty="0"/>
              <a:t>; </a:t>
            </a:r>
            <a:r>
              <a:rPr lang="en-US" sz="2800" dirty="0" err="1"/>
              <a:t>koriste</a:t>
            </a:r>
            <a:r>
              <a:rPr lang="en-US" sz="2800" dirty="0"/>
              <a:t> </a:t>
            </a:r>
            <a:r>
              <a:rPr lang="en-US" sz="2800" dirty="0" err="1"/>
              <a:t>ga</a:t>
            </a:r>
            <a:r>
              <a:rPr lang="en-US" sz="2800" dirty="0"/>
              <a:t> Facebook </a:t>
            </a:r>
            <a:r>
              <a:rPr lang="en-US" sz="2800" dirty="0" err="1"/>
              <a:t>i</a:t>
            </a:r>
            <a:r>
              <a:rPr lang="en-US" sz="2800" dirty="0"/>
              <a:t> YouTube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Oracle </a:t>
            </a:r>
            <a:r>
              <a:rPr lang="en-US" sz="2800" dirty="0"/>
              <a:t>Database: </a:t>
            </a:r>
            <a:r>
              <a:rPr lang="en-US" sz="2800" dirty="0" err="1"/>
              <a:t>moćan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skup</a:t>
            </a:r>
            <a:r>
              <a:rPr lang="en-US" sz="2800" dirty="0"/>
              <a:t>; </a:t>
            </a:r>
            <a:r>
              <a:rPr lang="en-US" sz="2800" dirty="0" err="1"/>
              <a:t>koriste</a:t>
            </a:r>
            <a:r>
              <a:rPr lang="en-US" sz="2800" dirty="0"/>
              <a:t> </a:t>
            </a:r>
            <a:r>
              <a:rPr lang="en-US" sz="2800" dirty="0" err="1"/>
              <a:t>ga</a:t>
            </a:r>
            <a:r>
              <a:rPr lang="en-US" sz="2800" dirty="0"/>
              <a:t> </a:t>
            </a:r>
            <a:r>
              <a:rPr lang="en-US" sz="2800" dirty="0" err="1"/>
              <a:t>banke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vojska</a:t>
            </a:r>
            <a:r>
              <a:rPr lang="en-US" sz="2800" dirty="0"/>
              <a:t> </a:t>
            </a:r>
            <a:r>
              <a:rPr lang="en-US" sz="2800" dirty="0" err="1"/>
              <a:t>zbog</a:t>
            </a:r>
            <a:r>
              <a:rPr lang="en-US" sz="2800" dirty="0"/>
              <a:t> </a:t>
            </a:r>
            <a:r>
              <a:rPr lang="en-US" sz="2800" dirty="0" err="1"/>
              <a:t>sigurnosti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Microsoft </a:t>
            </a:r>
            <a:r>
              <a:rPr lang="en-US" sz="2800" dirty="0"/>
              <a:t>SQL Server: </a:t>
            </a:r>
            <a:r>
              <a:rPr lang="en-US" sz="2800" dirty="0" err="1"/>
              <a:t>odlično</a:t>
            </a:r>
            <a:r>
              <a:rPr lang="en-US" sz="2800" dirty="0"/>
              <a:t> </a:t>
            </a:r>
            <a:r>
              <a:rPr lang="en-US" sz="2800" dirty="0" err="1"/>
              <a:t>sarađuje</a:t>
            </a:r>
            <a:r>
              <a:rPr lang="en-US" sz="2800" dirty="0"/>
              <a:t> </a:t>
            </a:r>
            <a:r>
              <a:rPr lang="en-US" sz="2800" dirty="0" err="1"/>
              <a:t>sa</a:t>
            </a:r>
            <a:r>
              <a:rPr lang="en-US" sz="2800" dirty="0"/>
              <a:t> Windows </a:t>
            </a:r>
            <a:r>
              <a:rPr lang="en-US" sz="2800" dirty="0" err="1"/>
              <a:t>i</a:t>
            </a:r>
            <a:r>
              <a:rPr lang="en-US" sz="2800" dirty="0"/>
              <a:t> Excel </a:t>
            </a:r>
            <a:r>
              <a:rPr lang="en-US" sz="2800" dirty="0" err="1"/>
              <a:t>programima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97254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pl-PL" sz="4000" dirty="0"/>
              <a:t>Razlika između podataka i informacije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8" y="1495425"/>
            <a:ext cx="9047521" cy="4552950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Podatak</a:t>
            </a:r>
            <a:r>
              <a:rPr lang="en-US" sz="2800" dirty="0"/>
              <a:t>: </a:t>
            </a:r>
            <a:r>
              <a:rPr lang="en-US" sz="2800" dirty="0" err="1"/>
              <a:t>Reč</a:t>
            </a:r>
            <a:r>
              <a:rPr lang="en-US" sz="2800" dirty="0"/>
              <a:t>, </a:t>
            </a:r>
            <a:r>
              <a:rPr lang="en-US" sz="2800" dirty="0" err="1"/>
              <a:t>broj</a:t>
            </a:r>
            <a:r>
              <a:rPr lang="en-US" sz="2800" dirty="0"/>
              <a:t> </a:t>
            </a:r>
            <a:r>
              <a:rPr lang="en-US" sz="2800" dirty="0" err="1"/>
              <a:t>ili</a:t>
            </a:r>
            <a:r>
              <a:rPr lang="en-US" sz="2800" dirty="0"/>
              <a:t> </a:t>
            </a:r>
            <a:r>
              <a:rPr lang="en-US" sz="2800" dirty="0" err="1"/>
              <a:t>simbol</a:t>
            </a:r>
            <a:r>
              <a:rPr lang="en-US" sz="2800" dirty="0"/>
              <a:t> bez </a:t>
            </a:r>
            <a:r>
              <a:rPr lang="en-US" sz="2800" dirty="0" err="1"/>
              <a:t>posebnog</a:t>
            </a:r>
            <a:r>
              <a:rPr lang="en-US" sz="2800" dirty="0"/>
              <a:t> </a:t>
            </a:r>
            <a:r>
              <a:rPr lang="en-US" sz="2800" dirty="0" err="1"/>
              <a:t>značenja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"38</a:t>
            </a:r>
            <a:r>
              <a:rPr lang="en-US" sz="2800" dirty="0" smtClean="0"/>
              <a:t>").</a:t>
            </a:r>
            <a:endParaRPr lang="sr-Latn-RS" sz="2800" dirty="0" smtClean="0"/>
          </a:p>
          <a:p>
            <a:r>
              <a:rPr lang="en-US" sz="2800" dirty="0" err="1" smtClean="0"/>
              <a:t>Informacija</a:t>
            </a:r>
            <a:r>
              <a:rPr lang="en-US" sz="2800" dirty="0"/>
              <a:t>: </a:t>
            </a:r>
            <a:r>
              <a:rPr lang="en-US" sz="2800" dirty="0" err="1"/>
              <a:t>Obrađen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smislen</a:t>
            </a:r>
            <a:r>
              <a:rPr lang="en-US" sz="2800" dirty="0"/>
              <a:t> </a:t>
            </a:r>
            <a:r>
              <a:rPr lang="en-US" sz="2800" dirty="0" err="1"/>
              <a:t>podatak</a:t>
            </a:r>
            <a:r>
              <a:rPr lang="en-US" sz="2800" dirty="0"/>
              <a:t> </a:t>
            </a:r>
            <a:r>
              <a:rPr lang="en-US" sz="2800" dirty="0" err="1"/>
              <a:t>koji</a:t>
            </a:r>
            <a:r>
              <a:rPr lang="en-US" sz="2800" dirty="0"/>
              <a:t> </a:t>
            </a:r>
            <a:r>
              <a:rPr lang="en-US" sz="2800" dirty="0" err="1"/>
              <a:t>pomaže</a:t>
            </a:r>
            <a:r>
              <a:rPr lang="en-US" sz="2800" dirty="0"/>
              <a:t> u </a:t>
            </a:r>
            <a:r>
              <a:rPr lang="en-US" sz="2800" dirty="0" err="1"/>
              <a:t>donošenju</a:t>
            </a:r>
            <a:r>
              <a:rPr lang="en-US" sz="2800" dirty="0"/>
              <a:t> </a:t>
            </a:r>
            <a:r>
              <a:rPr lang="en-US" sz="2800" dirty="0" err="1"/>
              <a:t>odluka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Primer</a:t>
            </a:r>
            <a:r>
              <a:rPr lang="en-US" sz="2800" dirty="0"/>
              <a:t>: "38 </a:t>
            </a:r>
            <a:r>
              <a:rPr lang="en-US" sz="2800" dirty="0" err="1"/>
              <a:t>stepeni</a:t>
            </a:r>
            <a:r>
              <a:rPr lang="en-US" sz="2800" dirty="0"/>
              <a:t> u </a:t>
            </a:r>
            <a:r>
              <a:rPr lang="en-US" sz="2800" dirty="0" err="1"/>
              <a:t>Beogradu</a:t>
            </a:r>
            <a:r>
              <a:rPr lang="en-US" sz="2800" dirty="0"/>
              <a:t>" je </a:t>
            </a:r>
            <a:r>
              <a:rPr lang="en-US" sz="2800" dirty="0" err="1"/>
              <a:t>informacija</a:t>
            </a:r>
            <a:r>
              <a:rPr lang="en-US" sz="2800" dirty="0"/>
              <a:t> </a:t>
            </a:r>
            <a:r>
              <a:rPr lang="en-US" sz="2800" dirty="0" err="1"/>
              <a:t>nastala</a:t>
            </a:r>
            <a:r>
              <a:rPr lang="en-US" sz="2800" dirty="0"/>
              <a:t> </a:t>
            </a:r>
            <a:r>
              <a:rPr lang="en-US" sz="2800" dirty="0" err="1"/>
              <a:t>iz</a:t>
            </a:r>
            <a:r>
              <a:rPr lang="en-US" sz="2800" dirty="0"/>
              <a:t> </a:t>
            </a:r>
            <a:r>
              <a:rPr lang="en-US" sz="2800" dirty="0" err="1"/>
              <a:t>sirovih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5439754"/>
              </p:ext>
            </p:extLst>
          </p:nvPr>
        </p:nvGraphicFramePr>
        <p:xfrm>
          <a:off x="1868129" y="4600575"/>
          <a:ext cx="9636483" cy="162134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24913">
                  <a:extLst>
                    <a:ext uri="{9D8B030D-6E8A-4147-A177-3AD203B41FA5}">
                      <a16:colId xmlns:a16="http://schemas.microsoft.com/office/drawing/2014/main" val="679651800"/>
                    </a:ext>
                  </a:extLst>
                </a:gridCol>
                <a:gridCol w="2755903">
                  <a:extLst>
                    <a:ext uri="{9D8B030D-6E8A-4147-A177-3AD203B41FA5}">
                      <a16:colId xmlns:a16="http://schemas.microsoft.com/office/drawing/2014/main" val="1668740094"/>
                    </a:ext>
                  </a:extLst>
                </a:gridCol>
                <a:gridCol w="4655667">
                  <a:extLst>
                    <a:ext uri="{9D8B030D-6E8A-4147-A177-3AD203B41FA5}">
                      <a16:colId xmlns:a16="http://schemas.microsoft.com/office/drawing/2014/main" val="2788036190"/>
                    </a:ext>
                  </a:extLst>
                </a:gridCol>
              </a:tblGrid>
              <a:tr h="276429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Karakteristika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Podatak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Informacija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extLst>
                  <a:ext uri="{0D108BD9-81ED-4DB2-BD59-A6C34878D82A}">
                    <a16:rowId xmlns:a16="http://schemas.microsoft.com/office/drawing/2014/main" val="887253735"/>
                  </a:ext>
                </a:extLst>
              </a:tr>
              <a:tr h="276530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Šta je to?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Neka reč, broj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 dirty="0" err="1">
                          <a:effectLst/>
                        </a:rPr>
                        <a:t>Obrađen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i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smislen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podatak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extLst>
                  <a:ext uri="{0D108BD9-81ED-4DB2-BD59-A6C34878D82A}">
                    <a16:rowId xmlns:a16="http://schemas.microsoft.com/office/drawing/2014/main" val="1892184240"/>
                  </a:ext>
                </a:extLst>
              </a:tr>
              <a:tr h="534194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Značenje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Sam po sebi ga nema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Ima jasno značenje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extLst>
                  <a:ext uri="{0D108BD9-81ED-4DB2-BD59-A6C34878D82A}">
                    <a16:rowId xmlns:a16="http://schemas.microsoft.com/office/drawing/2014/main" val="2722606776"/>
                  </a:ext>
                </a:extLst>
              </a:tr>
              <a:tr h="534194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Primer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„12”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„U mom </a:t>
                      </a:r>
                      <a:r>
                        <a:rPr lang="en-US" sz="1400" dirty="0" err="1">
                          <a:effectLst/>
                        </a:rPr>
                        <a:t>odeljenju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ima</a:t>
                      </a:r>
                      <a:r>
                        <a:rPr lang="en-US" sz="1400" dirty="0">
                          <a:effectLst/>
                        </a:rPr>
                        <a:t> 12 „</a:t>
                      </a:r>
                      <a:r>
                        <a:rPr lang="en-US" sz="1400" dirty="0" err="1">
                          <a:effectLst/>
                        </a:rPr>
                        <a:t>devojčica</a:t>
                      </a:r>
                      <a:r>
                        <a:rPr lang="en-US" sz="1400" dirty="0">
                          <a:effectLst/>
                        </a:rPr>
                        <a:t>”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8740" marR="73025" marT="20320" marB="0"/>
                </a:tc>
                <a:extLst>
                  <a:ext uri="{0D108BD9-81ED-4DB2-BD59-A6C34878D82A}">
                    <a16:rowId xmlns:a16="http://schemas.microsoft.com/office/drawing/2014/main" val="249376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99218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Informacioni</a:t>
            </a:r>
            <a:r>
              <a:rPr lang="en-US" sz="4000" dirty="0"/>
              <a:t> </a:t>
            </a:r>
            <a:r>
              <a:rPr lang="en-US" sz="4000" dirty="0" err="1" smtClean="0"/>
              <a:t>sistemi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905001"/>
            <a:ext cx="8915400" cy="4086224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Sistem</a:t>
            </a:r>
            <a:r>
              <a:rPr lang="en-US" sz="2800" dirty="0" smtClean="0"/>
              <a:t> u </a:t>
            </a:r>
            <a:r>
              <a:rPr lang="en-US" sz="2800" dirty="0" err="1" smtClean="0"/>
              <a:t>kom</a:t>
            </a:r>
            <a:r>
              <a:rPr lang="en-US" sz="2800" dirty="0" smtClean="0"/>
              <a:t> </a:t>
            </a:r>
            <a:r>
              <a:rPr lang="en-US" sz="2800" dirty="0" err="1" smtClean="0"/>
              <a:t>ljudi</a:t>
            </a:r>
            <a:r>
              <a:rPr lang="en-US" sz="2800" dirty="0" smtClean="0"/>
              <a:t>, </a:t>
            </a:r>
            <a:r>
              <a:rPr lang="en-US" sz="2800" dirty="0" err="1" smtClean="0"/>
              <a:t>po</a:t>
            </a:r>
            <a:r>
              <a:rPr lang="en-US" sz="2800" dirty="0" smtClean="0"/>
              <a:t> </a:t>
            </a:r>
            <a:r>
              <a:rPr lang="en-US" sz="2800" dirty="0" err="1" smtClean="0"/>
              <a:t>određenim</a:t>
            </a:r>
            <a:r>
              <a:rPr lang="en-US" sz="2800" dirty="0" smtClean="0"/>
              <a:t> </a:t>
            </a:r>
            <a:r>
              <a:rPr lang="en-US" sz="2800" dirty="0" err="1" smtClean="0"/>
              <a:t>pravilima</a:t>
            </a:r>
            <a:r>
              <a:rPr lang="en-US" sz="2800" dirty="0" smtClean="0"/>
              <a:t>, </a:t>
            </a:r>
            <a:r>
              <a:rPr lang="en-US" sz="2800" dirty="0" err="1" smtClean="0"/>
              <a:t>pretvaraju</a:t>
            </a:r>
            <a:r>
              <a:rPr lang="en-US" sz="2800" dirty="0" smtClean="0"/>
              <a:t> </a:t>
            </a:r>
            <a:r>
              <a:rPr lang="en-US" sz="2800" dirty="0" err="1" smtClean="0"/>
              <a:t>podatke</a:t>
            </a:r>
            <a:r>
              <a:rPr lang="en-US" sz="2800" dirty="0" smtClean="0"/>
              <a:t> u </a:t>
            </a:r>
            <a:r>
              <a:rPr lang="en-US" sz="2800" dirty="0" err="1" smtClean="0"/>
              <a:t>informacije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Četiri</a:t>
            </a:r>
            <a:r>
              <a:rPr lang="en-US" sz="2800" dirty="0" smtClean="0"/>
              <a:t> </a:t>
            </a:r>
            <a:r>
              <a:rPr lang="en-US" sz="2800" dirty="0" err="1"/>
              <a:t>koraka</a:t>
            </a:r>
            <a:r>
              <a:rPr lang="en-US" sz="2800" dirty="0"/>
              <a:t>: </a:t>
            </a:r>
            <a:r>
              <a:rPr lang="en-US" sz="2800" dirty="0" err="1"/>
              <a:t>prikupljanje</a:t>
            </a:r>
            <a:r>
              <a:rPr lang="en-US" sz="2800" dirty="0"/>
              <a:t>, </a:t>
            </a:r>
            <a:r>
              <a:rPr lang="en-US" sz="2800" dirty="0" err="1"/>
              <a:t>čuvanje</a:t>
            </a:r>
            <a:r>
              <a:rPr lang="en-US" sz="2800" dirty="0"/>
              <a:t>, </a:t>
            </a:r>
            <a:r>
              <a:rPr lang="en-US" sz="2800" dirty="0" err="1"/>
              <a:t>obrada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prikazivanje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Glavni</a:t>
            </a:r>
            <a:r>
              <a:rPr lang="en-US" sz="2800" dirty="0" smtClean="0"/>
              <a:t> </a:t>
            </a:r>
            <a:r>
              <a:rPr lang="en-US" sz="2800" dirty="0" err="1"/>
              <a:t>cilj</a:t>
            </a:r>
            <a:r>
              <a:rPr lang="en-US" sz="2800" dirty="0"/>
              <a:t> je </a:t>
            </a:r>
            <a:r>
              <a:rPr lang="en-US" sz="2800" dirty="0" err="1"/>
              <a:t>ušteda</a:t>
            </a:r>
            <a:r>
              <a:rPr lang="en-US" sz="2800" dirty="0"/>
              <a:t> </a:t>
            </a:r>
            <a:r>
              <a:rPr lang="en-US" sz="2800" dirty="0" err="1"/>
              <a:t>vremena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smanjenje</a:t>
            </a:r>
            <a:r>
              <a:rPr lang="en-US" sz="2800" dirty="0"/>
              <a:t> </a:t>
            </a:r>
            <a:r>
              <a:rPr lang="en-US" sz="2800" dirty="0" err="1"/>
              <a:t>grešaka</a:t>
            </a:r>
            <a:r>
              <a:rPr lang="en-US" sz="2800" dirty="0"/>
              <a:t> u </a:t>
            </a:r>
            <a:r>
              <a:rPr lang="en-US" sz="2800" dirty="0" err="1"/>
              <a:t>radu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742643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 fontScale="90000"/>
          </a:bodyPr>
          <a:lstStyle/>
          <a:p>
            <a:r>
              <a:rPr lang="pl-PL" sz="4000" dirty="0"/>
              <a:t>Veza baze podataka i informacionog </a:t>
            </a:r>
            <a:r>
              <a:rPr lang="pl-PL" sz="4000" dirty="0" smtClean="0"/>
              <a:t>sistema</a:t>
            </a:r>
            <a:endParaRPr lang="pl-PL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986116"/>
            <a:ext cx="8915400" cy="4243234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Baza</a:t>
            </a:r>
            <a:r>
              <a:rPr lang="en-US" sz="2800" dirty="0" smtClean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 je </a:t>
            </a:r>
            <a:r>
              <a:rPr lang="en-US" sz="2800" dirty="0" err="1"/>
              <a:t>poput</a:t>
            </a:r>
            <a:r>
              <a:rPr lang="en-US" sz="2800" dirty="0"/>
              <a:t> </a:t>
            </a:r>
            <a:r>
              <a:rPr lang="en-US" sz="2800" dirty="0" err="1"/>
              <a:t>frižidera</a:t>
            </a:r>
            <a:r>
              <a:rPr lang="en-US" sz="2800" dirty="0"/>
              <a:t> (</a:t>
            </a:r>
            <a:r>
              <a:rPr lang="en-US" sz="2800" dirty="0" err="1"/>
              <a:t>mesto</a:t>
            </a:r>
            <a:r>
              <a:rPr lang="en-US" sz="2800" dirty="0"/>
              <a:t> </a:t>
            </a:r>
            <a:r>
              <a:rPr lang="en-US" sz="2800" dirty="0" err="1"/>
              <a:t>gde</a:t>
            </a:r>
            <a:r>
              <a:rPr lang="en-US" sz="2800" dirty="0"/>
              <a:t> se </a:t>
            </a:r>
            <a:r>
              <a:rPr lang="en-US" sz="2800" dirty="0" err="1"/>
              <a:t>čuvaju</a:t>
            </a:r>
            <a:r>
              <a:rPr lang="en-US" sz="2800" dirty="0"/>
              <a:t> </a:t>
            </a:r>
            <a:r>
              <a:rPr lang="en-US" sz="2800" dirty="0" err="1"/>
              <a:t>namirnice</a:t>
            </a:r>
            <a:r>
              <a:rPr lang="en-US" sz="2800" dirty="0"/>
              <a:t>/</a:t>
            </a:r>
            <a:r>
              <a:rPr lang="en-US" sz="2800" dirty="0" err="1"/>
              <a:t>podaci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Informacioni</a:t>
            </a:r>
            <a:r>
              <a:rPr lang="en-US" sz="2800" dirty="0" smtClean="0"/>
              <a:t> </a:t>
            </a:r>
            <a:r>
              <a:rPr lang="en-US" sz="2800" dirty="0" err="1"/>
              <a:t>sistem</a:t>
            </a:r>
            <a:r>
              <a:rPr lang="en-US" sz="2800" dirty="0"/>
              <a:t> je </a:t>
            </a:r>
            <a:r>
              <a:rPr lang="en-US" sz="2800" dirty="0" err="1"/>
              <a:t>poput</a:t>
            </a:r>
            <a:r>
              <a:rPr lang="en-US" sz="2800" dirty="0"/>
              <a:t> </a:t>
            </a:r>
            <a:r>
              <a:rPr lang="en-US" sz="2800" dirty="0" err="1"/>
              <a:t>kuvara</a:t>
            </a:r>
            <a:r>
              <a:rPr lang="en-US" sz="2800" dirty="0"/>
              <a:t> (</a:t>
            </a:r>
            <a:r>
              <a:rPr lang="en-US" sz="2800" dirty="0" err="1"/>
              <a:t>koristi</a:t>
            </a:r>
            <a:r>
              <a:rPr lang="en-US" sz="2800" dirty="0"/>
              <a:t> </a:t>
            </a:r>
            <a:r>
              <a:rPr lang="en-US" sz="2800" dirty="0" err="1"/>
              <a:t>namirnice</a:t>
            </a:r>
            <a:r>
              <a:rPr lang="en-US" sz="2800" dirty="0"/>
              <a:t> da </a:t>
            </a:r>
            <a:r>
              <a:rPr lang="en-US" sz="2800" dirty="0" err="1"/>
              <a:t>napravi</a:t>
            </a:r>
            <a:r>
              <a:rPr lang="en-US" sz="2800" dirty="0"/>
              <a:t> </a:t>
            </a:r>
            <a:r>
              <a:rPr lang="en-US" sz="2800" dirty="0" err="1"/>
              <a:t>jelo</a:t>
            </a:r>
            <a:r>
              <a:rPr lang="en-US" sz="2800" dirty="0"/>
              <a:t>/</a:t>
            </a:r>
            <a:r>
              <a:rPr lang="en-US" sz="2800" dirty="0" err="1"/>
              <a:t>informaciju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smtClean="0"/>
              <a:t>Bez </a:t>
            </a:r>
            <a:r>
              <a:rPr lang="en-US" sz="2800" dirty="0" err="1"/>
              <a:t>baze</a:t>
            </a:r>
            <a:r>
              <a:rPr lang="en-US" sz="2800" dirty="0"/>
              <a:t>, </a:t>
            </a:r>
            <a:r>
              <a:rPr lang="en-US" sz="2800" dirty="0" err="1"/>
              <a:t>sistem</a:t>
            </a:r>
            <a:r>
              <a:rPr lang="en-US" sz="2800" dirty="0"/>
              <a:t> </a:t>
            </a:r>
            <a:r>
              <a:rPr lang="en-US" sz="2800" dirty="0" err="1"/>
              <a:t>nema</a:t>
            </a:r>
            <a:r>
              <a:rPr lang="en-US" sz="2800" dirty="0"/>
              <a:t> </a:t>
            </a:r>
            <a:r>
              <a:rPr lang="en-US" sz="2800" dirty="0" err="1"/>
              <a:t>gde</a:t>
            </a:r>
            <a:r>
              <a:rPr lang="en-US" sz="2800" dirty="0"/>
              <a:t> da </a:t>
            </a:r>
            <a:r>
              <a:rPr lang="en-US" sz="2800" dirty="0" err="1"/>
              <a:t>čuva</a:t>
            </a:r>
            <a:r>
              <a:rPr lang="en-US" sz="2800" dirty="0"/>
              <a:t> </a:t>
            </a:r>
            <a:r>
              <a:rPr lang="en-US" sz="2800" dirty="0" err="1"/>
              <a:t>podatke</a:t>
            </a:r>
            <a:r>
              <a:rPr lang="en-US" sz="2800" dirty="0"/>
              <a:t>; bez </a:t>
            </a:r>
            <a:r>
              <a:rPr lang="en-US" sz="2800" dirty="0" err="1"/>
              <a:t>sistema</a:t>
            </a:r>
            <a:r>
              <a:rPr lang="en-US" sz="2800" dirty="0"/>
              <a:t>, </a:t>
            </a:r>
            <a:r>
              <a:rPr lang="en-US" sz="2800" dirty="0" err="1"/>
              <a:t>baza</a:t>
            </a:r>
            <a:r>
              <a:rPr lang="en-US" sz="2800" dirty="0"/>
              <a:t> je </a:t>
            </a:r>
            <a:r>
              <a:rPr lang="en-US" sz="2800" dirty="0" err="1"/>
              <a:t>samo</a:t>
            </a:r>
            <a:r>
              <a:rPr lang="en-US" sz="2800" dirty="0"/>
              <a:t> </a:t>
            </a:r>
            <a:r>
              <a:rPr lang="en-US" sz="2800" dirty="0" err="1"/>
              <a:t>gomila</a:t>
            </a:r>
            <a:r>
              <a:rPr lang="en-US" sz="2800" dirty="0"/>
              <a:t> </a:t>
            </a:r>
            <a:r>
              <a:rPr lang="en-US" sz="2800" dirty="0" err="1"/>
              <a:t>brojeva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77718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Relacioni</a:t>
            </a:r>
            <a:r>
              <a:rPr lang="en-US" sz="4000" dirty="0"/>
              <a:t> model </a:t>
            </a:r>
            <a:r>
              <a:rPr lang="en-US" sz="4000" dirty="0" err="1"/>
              <a:t>baza</a:t>
            </a:r>
            <a:r>
              <a:rPr lang="en-US" sz="4000" dirty="0"/>
              <a:t> </a:t>
            </a:r>
            <a:r>
              <a:rPr lang="en-US" sz="4000" dirty="0" err="1" smtClean="0"/>
              <a:t>podataka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2157566"/>
            <a:ext cx="8915400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Najzastupljeniji</a:t>
            </a:r>
            <a:r>
              <a:rPr lang="en-US" sz="2800" dirty="0" smtClean="0"/>
              <a:t> </a:t>
            </a:r>
            <a:r>
              <a:rPr lang="en-US" sz="2800" dirty="0"/>
              <a:t>model </a:t>
            </a:r>
            <a:r>
              <a:rPr lang="en-US" sz="2800" dirty="0" err="1"/>
              <a:t>gde</a:t>
            </a:r>
            <a:r>
              <a:rPr lang="en-US" sz="2800" dirty="0"/>
              <a:t> se </a:t>
            </a:r>
            <a:r>
              <a:rPr lang="en-US" sz="2800" dirty="0" err="1"/>
              <a:t>podaci</a:t>
            </a:r>
            <a:r>
              <a:rPr lang="en-US" sz="2800" dirty="0"/>
              <a:t> </a:t>
            </a:r>
            <a:r>
              <a:rPr lang="en-US" sz="2800" dirty="0" err="1"/>
              <a:t>čuvaju</a:t>
            </a:r>
            <a:r>
              <a:rPr lang="en-US" sz="2800" dirty="0"/>
              <a:t> u </a:t>
            </a:r>
            <a:r>
              <a:rPr lang="en-US" sz="2800" dirty="0" err="1"/>
              <a:t>tabelama</a:t>
            </a:r>
            <a:r>
              <a:rPr lang="en-US" sz="2800" dirty="0"/>
              <a:t> (</a:t>
            </a:r>
            <a:r>
              <a:rPr lang="en-US" sz="2800" dirty="0" err="1"/>
              <a:t>relacijama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Svaki</a:t>
            </a:r>
            <a:r>
              <a:rPr lang="en-US" sz="2800" dirty="0" smtClean="0"/>
              <a:t> </a:t>
            </a:r>
            <a:r>
              <a:rPr lang="en-US" sz="2800" dirty="0"/>
              <a:t>red u </a:t>
            </a:r>
            <a:r>
              <a:rPr lang="en-US" sz="2800" dirty="0" err="1"/>
              <a:t>tabeli</a:t>
            </a:r>
            <a:r>
              <a:rPr lang="en-US" sz="2800" dirty="0"/>
              <a:t> je </a:t>
            </a:r>
            <a:r>
              <a:rPr lang="en-US" sz="2800" dirty="0" err="1"/>
              <a:t>jedan</a:t>
            </a:r>
            <a:r>
              <a:rPr lang="en-US" sz="2800" dirty="0"/>
              <a:t> </a:t>
            </a:r>
            <a:r>
              <a:rPr lang="en-US" sz="2800" dirty="0" err="1"/>
              <a:t>zapis</a:t>
            </a:r>
            <a:r>
              <a:rPr lang="en-US" sz="2800" dirty="0"/>
              <a:t>, a </a:t>
            </a:r>
            <a:r>
              <a:rPr lang="en-US" sz="2800" dirty="0" err="1"/>
              <a:t>svaka</a:t>
            </a:r>
            <a:r>
              <a:rPr lang="en-US" sz="2800" dirty="0"/>
              <a:t> </a:t>
            </a:r>
            <a:r>
              <a:rPr lang="en-US" sz="2800" dirty="0" err="1"/>
              <a:t>kolona</a:t>
            </a:r>
            <a:r>
              <a:rPr lang="en-US" sz="2800" dirty="0"/>
              <a:t> je </a:t>
            </a:r>
            <a:r>
              <a:rPr lang="en-US" sz="2800" dirty="0" err="1"/>
              <a:t>atribut</a:t>
            </a:r>
            <a:r>
              <a:rPr lang="en-US" sz="2800" dirty="0"/>
              <a:t> (</a:t>
            </a:r>
            <a:r>
              <a:rPr lang="en-US" sz="2800" dirty="0" err="1"/>
              <a:t>osobina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Tabele</a:t>
            </a:r>
            <a:r>
              <a:rPr lang="en-US" sz="2800" dirty="0" smtClean="0"/>
              <a:t> </a:t>
            </a:r>
            <a:r>
              <a:rPr lang="en-US" sz="2800" dirty="0"/>
              <a:t>se </a:t>
            </a:r>
            <a:r>
              <a:rPr lang="en-US" sz="2800" dirty="0" err="1"/>
              <a:t>povezuju</a:t>
            </a:r>
            <a:r>
              <a:rPr lang="en-US" sz="2800" dirty="0"/>
              <a:t> </a:t>
            </a:r>
            <a:r>
              <a:rPr lang="en-US" sz="2800" dirty="0" err="1"/>
              <a:t>putem</a:t>
            </a:r>
            <a:r>
              <a:rPr lang="en-US" sz="2800" dirty="0"/>
              <a:t> </a:t>
            </a:r>
            <a:r>
              <a:rPr lang="en-US" sz="2800" dirty="0" err="1"/>
              <a:t>zajedničkih</a:t>
            </a:r>
            <a:r>
              <a:rPr lang="en-US" sz="2800" dirty="0"/>
              <a:t> </a:t>
            </a:r>
            <a:r>
              <a:rPr lang="en-US" sz="2800" dirty="0" err="1"/>
              <a:t>kolona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7273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Osnovni</a:t>
            </a:r>
            <a:r>
              <a:rPr lang="en-US" sz="4000" dirty="0"/>
              <a:t> </a:t>
            </a:r>
            <a:r>
              <a:rPr lang="en-US" sz="4000" dirty="0" err="1"/>
              <a:t>pojmovi</a:t>
            </a:r>
            <a:r>
              <a:rPr lang="en-US" sz="4000" dirty="0"/>
              <a:t> </a:t>
            </a:r>
            <a:r>
              <a:rPr lang="en-US" sz="4000" dirty="0" err="1"/>
              <a:t>relacionih</a:t>
            </a:r>
            <a:r>
              <a:rPr lang="en-US" sz="4000" dirty="0"/>
              <a:t> </a:t>
            </a:r>
            <a:r>
              <a:rPr lang="en-US" sz="4000" dirty="0" err="1" smtClean="0"/>
              <a:t>baza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8" y="1904999"/>
            <a:ext cx="9636483" cy="4829175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Tabela</a:t>
            </a:r>
            <a:r>
              <a:rPr lang="en-US" sz="2800" dirty="0" smtClean="0"/>
              <a:t> </a:t>
            </a:r>
            <a:r>
              <a:rPr lang="en-US" sz="2800" dirty="0"/>
              <a:t>(</a:t>
            </a:r>
            <a:r>
              <a:rPr lang="en-US" sz="2800" dirty="0" err="1"/>
              <a:t>Relacija</a:t>
            </a:r>
            <a:r>
              <a:rPr lang="en-US" sz="2800" dirty="0"/>
              <a:t>): </a:t>
            </a:r>
            <a:r>
              <a:rPr lang="en-US" sz="2800" dirty="0" err="1"/>
              <a:t>Skup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 o </a:t>
            </a:r>
            <a:r>
              <a:rPr lang="en-US" sz="2800" dirty="0" err="1"/>
              <a:t>istim</a:t>
            </a:r>
            <a:r>
              <a:rPr lang="en-US" sz="2800" dirty="0"/>
              <a:t> </a:t>
            </a:r>
            <a:r>
              <a:rPr lang="en-US" sz="2800" dirty="0" err="1"/>
              <a:t>entitetima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tabela</a:t>
            </a:r>
            <a:r>
              <a:rPr lang="en-US" sz="2800" dirty="0"/>
              <a:t> "</a:t>
            </a:r>
            <a:r>
              <a:rPr lang="en-US" sz="2800" dirty="0" err="1"/>
              <a:t>Automobil</a:t>
            </a:r>
            <a:r>
              <a:rPr lang="en-US" sz="2800" dirty="0" smtClean="0"/>
              <a:t>").</a:t>
            </a:r>
            <a:endParaRPr lang="sr-Latn-RS" sz="2800" dirty="0" smtClean="0"/>
          </a:p>
          <a:p>
            <a:r>
              <a:rPr lang="en-US" sz="2800" dirty="0" err="1" smtClean="0"/>
              <a:t>Kolona</a:t>
            </a:r>
            <a:r>
              <a:rPr lang="en-US" sz="2800" dirty="0" smtClean="0"/>
              <a:t> </a:t>
            </a:r>
            <a:r>
              <a:rPr lang="en-US" sz="2800" dirty="0"/>
              <a:t>(</a:t>
            </a:r>
            <a:r>
              <a:rPr lang="en-US" sz="2800" dirty="0" err="1"/>
              <a:t>Atribut</a:t>
            </a:r>
            <a:r>
              <a:rPr lang="en-US" sz="2800" dirty="0"/>
              <a:t>): </a:t>
            </a:r>
            <a:r>
              <a:rPr lang="en-US" sz="2800" dirty="0" err="1"/>
              <a:t>Određuje</a:t>
            </a:r>
            <a:r>
              <a:rPr lang="en-US" sz="2800" dirty="0"/>
              <a:t> </a:t>
            </a:r>
            <a:r>
              <a:rPr lang="en-US" sz="2800" dirty="0" err="1"/>
              <a:t>karakteristike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Marka</a:t>
            </a:r>
            <a:r>
              <a:rPr lang="en-US" sz="2800" dirty="0"/>
              <a:t>, </a:t>
            </a:r>
            <a:r>
              <a:rPr lang="en-US" sz="2800" dirty="0" err="1"/>
              <a:t>Klasa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smtClean="0"/>
              <a:t>Red </a:t>
            </a:r>
            <a:r>
              <a:rPr lang="en-US" sz="2800" dirty="0"/>
              <a:t>(</a:t>
            </a:r>
            <a:r>
              <a:rPr lang="en-US" sz="2800" dirty="0" err="1"/>
              <a:t>Vrsta</a:t>
            </a:r>
            <a:r>
              <a:rPr lang="en-US" sz="2800" dirty="0"/>
              <a:t>/</a:t>
            </a:r>
            <a:r>
              <a:rPr lang="en-US" sz="2800" dirty="0" err="1"/>
              <a:t>Torka</a:t>
            </a:r>
            <a:r>
              <a:rPr lang="en-US" sz="2800" dirty="0"/>
              <a:t>): </a:t>
            </a:r>
            <a:r>
              <a:rPr lang="en-US" sz="2800" dirty="0" err="1"/>
              <a:t>Jedan</a:t>
            </a:r>
            <a:r>
              <a:rPr lang="en-US" sz="2800" dirty="0"/>
              <a:t> </a:t>
            </a:r>
            <a:r>
              <a:rPr lang="sr-Latn-RS" sz="2800" dirty="0"/>
              <a:t> </a:t>
            </a:r>
            <a:r>
              <a:rPr lang="sr-Latn-RS" sz="2800" dirty="0" smtClean="0"/>
              <a:t>                                     </a:t>
            </a:r>
            <a:r>
              <a:rPr lang="en-US" sz="2800" dirty="0" err="1" smtClean="0"/>
              <a:t>konkretan</a:t>
            </a:r>
            <a:r>
              <a:rPr lang="en-US" sz="2800" dirty="0" smtClean="0"/>
              <a:t> </a:t>
            </a:r>
            <a:r>
              <a:rPr lang="en-US" sz="2800" dirty="0" err="1"/>
              <a:t>zapis</a:t>
            </a:r>
            <a:r>
              <a:rPr lang="en-US" sz="2800" dirty="0"/>
              <a:t> u </a:t>
            </a:r>
            <a:r>
              <a:rPr lang="en-US" sz="2800" dirty="0" err="1"/>
              <a:t>tabeli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Polje</a:t>
            </a:r>
            <a:r>
              <a:rPr lang="en-US" sz="2800" dirty="0" smtClean="0"/>
              <a:t> </a:t>
            </a:r>
            <a:r>
              <a:rPr lang="en-US" sz="2800" dirty="0"/>
              <a:t>(</a:t>
            </a:r>
            <a:r>
              <a:rPr lang="en-US" sz="2800" dirty="0" err="1"/>
              <a:t>Ćelija</a:t>
            </a:r>
            <a:r>
              <a:rPr lang="en-US" sz="2800" dirty="0"/>
              <a:t>): </a:t>
            </a:r>
            <a:r>
              <a:rPr lang="en-US" sz="2800" dirty="0" err="1"/>
              <a:t>Mesto</a:t>
            </a:r>
            <a:r>
              <a:rPr lang="en-US" sz="2800" dirty="0"/>
              <a:t> </a:t>
            </a:r>
            <a:r>
              <a:rPr lang="en-US" sz="2800" dirty="0" err="1"/>
              <a:t>gde</a:t>
            </a:r>
            <a:r>
              <a:rPr lang="en-US" sz="2800" dirty="0"/>
              <a:t> </a:t>
            </a:r>
            <a:r>
              <a:rPr lang="sr-Latn-RS" sz="2800" dirty="0" smtClean="0"/>
              <a:t>                                                    </a:t>
            </a:r>
            <a:r>
              <a:rPr lang="en-US" sz="2800" dirty="0" smtClean="0"/>
              <a:t>se </a:t>
            </a:r>
            <a:r>
              <a:rPr lang="en-US" sz="2800" dirty="0" err="1"/>
              <a:t>seku</a:t>
            </a:r>
            <a:r>
              <a:rPr lang="en-US" sz="2800" dirty="0"/>
              <a:t> red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kolona</a:t>
            </a:r>
            <a:r>
              <a:rPr lang="en-US" sz="2800" dirty="0"/>
              <a:t>.</a:t>
            </a:r>
          </a:p>
        </p:txBody>
      </p:sp>
      <p:pic>
        <p:nvPicPr>
          <p:cNvPr id="7" name="Picture 6"/>
          <p:cNvPicPr/>
          <p:nvPr/>
        </p:nvPicPr>
        <p:blipFill rotWithShape="1">
          <a:blip r:embed="rId2"/>
          <a:srcRect r="9194"/>
          <a:stretch/>
        </p:blipFill>
        <p:spPr>
          <a:xfrm>
            <a:off x="6962775" y="3629025"/>
            <a:ext cx="4238625" cy="2176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938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Ključevi</a:t>
            </a:r>
            <a:r>
              <a:rPr lang="en-US" sz="4000" dirty="0"/>
              <a:t> u </a:t>
            </a:r>
            <a:r>
              <a:rPr lang="en-US" sz="4000" dirty="0" err="1"/>
              <a:t>bazama</a:t>
            </a:r>
            <a:r>
              <a:rPr lang="en-US" sz="4000" dirty="0"/>
              <a:t> </a:t>
            </a:r>
            <a:r>
              <a:rPr lang="en-US" sz="4000" dirty="0" err="1" smtClean="0"/>
              <a:t>podataka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805141"/>
            <a:ext cx="8915400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Primarni</a:t>
            </a:r>
            <a:r>
              <a:rPr lang="en-US" sz="2800" dirty="0" smtClean="0"/>
              <a:t> </a:t>
            </a:r>
            <a:r>
              <a:rPr lang="en-US" sz="2800" dirty="0" err="1"/>
              <a:t>ključ</a:t>
            </a:r>
            <a:r>
              <a:rPr lang="en-US" sz="2800" dirty="0"/>
              <a:t>: </a:t>
            </a:r>
            <a:r>
              <a:rPr lang="en-US" sz="2800" dirty="0" err="1"/>
              <a:t>Jedinstveno</a:t>
            </a:r>
            <a:r>
              <a:rPr lang="en-US" sz="2800" dirty="0"/>
              <a:t> </a:t>
            </a:r>
            <a:r>
              <a:rPr lang="en-US" sz="2800" dirty="0" err="1"/>
              <a:t>određuje</a:t>
            </a:r>
            <a:r>
              <a:rPr lang="en-US" sz="2800" dirty="0"/>
              <a:t> </a:t>
            </a:r>
            <a:r>
              <a:rPr lang="en-US" sz="2800" dirty="0" err="1"/>
              <a:t>svaki</a:t>
            </a:r>
            <a:r>
              <a:rPr lang="en-US" sz="2800" dirty="0"/>
              <a:t> red u </a:t>
            </a:r>
            <a:r>
              <a:rPr lang="en-US" sz="2800" dirty="0" err="1"/>
              <a:t>tabeli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JMBG </a:t>
            </a:r>
            <a:r>
              <a:rPr lang="en-US" sz="2800" dirty="0" err="1"/>
              <a:t>ili</a:t>
            </a:r>
            <a:r>
              <a:rPr lang="en-US" sz="2800" dirty="0"/>
              <a:t> ID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Strani</a:t>
            </a:r>
            <a:r>
              <a:rPr lang="en-US" sz="2800" dirty="0" smtClean="0"/>
              <a:t> </a:t>
            </a:r>
            <a:r>
              <a:rPr lang="en-US" sz="2800" dirty="0" err="1"/>
              <a:t>ključ</a:t>
            </a:r>
            <a:r>
              <a:rPr lang="en-US" sz="2800" dirty="0"/>
              <a:t>: </a:t>
            </a:r>
            <a:r>
              <a:rPr lang="en-US" sz="2800" dirty="0" err="1"/>
              <a:t>Služi</a:t>
            </a:r>
            <a:r>
              <a:rPr lang="en-US" sz="2800" dirty="0"/>
              <a:t> </a:t>
            </a:r>
            <a:r>
              <a:rPr lang="en-US" sz="2800" dirty="0" err="1"/>
              <a:t>kao</a:t>
            </a:r>
            <a:r>
              <a:rPr lang="en-US" sz="2800" dirty="0"/>
              <a:t> "most" </a:t>
            </a:r>
            <a:r>
              <a:rPr lang="en-US" sz="2800" dirty="0" err="1"/>
              <a:t>za</a:t>
            </a:r>
            <a:r>
              <a:rPr lang="en-US" sz="2800" dirty="0"/>
              <a:t> </a:t>
            </a:r>
            <a:r>
              <a:rPr lang="en-US" sz="2800" dirty="0" err="1"/>
              <a:t>povezivanje</a:t>
            </a:r>
            <a:r>
              <a:rPr lang="en-US" sz="2800" dirty="0"/>
              <a:t> </a:t>
            </a:r>
            <a:r>
              <a:rPr lang="en-US" sz="2800" dirty="0" err="1"/>
              <a:t>dve</a:t>
            </a:r>
            <a:r>
              <a:rPr lang="en-US" sz="2800" dirty="0"/>
              <a:t> </a:t>
            </a:r>
            <a:r>
              <a:rPr lang="en-US" sz="2800" dirty="0" err="1"/>
              <a:t>tabele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Složeni</a:t>
            </a:r>
            <a:r>
              <a:rPr lang="en-US" sz="2800" dirty="0" smtClean="0"/>
              <a:t> </a:t>
            </a:r>
            <a:r>
              <a:rPr lang="en-US" sz="2800" dirty="0" err="1"/>
              <a:t>ključ</a:t>
            </a:r>
            <a:r>
              <a:rPr lang="en-US" sz="2800" dirty="0"/>
              <a:t>: </a:t>
            </a:r>
            <a:r>
              <a:rPr lang="en-US" sz="2800" dirty="0" err="1"/>
              <a:t>Spajanje</a:t>
            </a:r>
            <a:r>
              <a:rPr lang="en-US" sz="2800" dirty="0"/>
              <a:t> </a:t>
            </a:r>
            <a:r>
              <a:rPr lang="en-US" sz="2800" dirty="0" err="1" smtClean="0"/>
              <a:t>više</a:t>
            </a:r>
            <a:r>
              <a:rPr lang="sr-Latn-RS" sz="2800" dirty="0" smtClean="0"/>
              <a:t>                                                 </a:t>
            </a:r>
            <a:r>
              <a:rPr lang="en-US" sz="2800" dirty="0" smtClean="0"/>
              <a:t> </a:t>
            </a:r>
            <a:r>
              <a:rPr lang="en-US" sz="2800" dirty="0" err="1"/>
              <a:t>kolona</a:t>
            </a:r>
            <a:r>
              <a:rPr lang="en-US" sz="2800" dirty="0"/>
              <a:t> da bi se </a:t>
            </a:r>
            <a:r>
              <a:rPr lang="en-US" sz="2800" dirty="0" err="1"/>
              <a:t>dobila</a:t>
            </a:r>
            <a:r>
              <a:rPr lang="en-US" sz="2800" dirty="0"/>
              <a:t> </a:t>
            </a:r>
            <a:r>
              <a:rPr lang="sr-Latn-RS" sz="2800" dirty="0" smtClean="0"/>
              <a:t>                                       </a:t>
            </a:r>
            <a:r>
              <a:rPr lang="en-US" sz="2800" dirty="0" err="1" smtClean="0"/>
              <a:t>jedinstvenost</a:t>
            </a:r>
            <a:r>
              <a:rPr lang="en-US" sz="2800" dirty="0" smtClean="0"/>
              <a:t> </a:t>
            </a:r>
            <a:r>
              <a:rPr lang="en-US" sz="2800" dirty="0"/>
              <a:t>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Broj</a:t>
            </a:r>
            <a:r>
              <a:rPr lang="en-US" sz="2800" dirty="0"/>
              <a:t> </a:t>
            </a:r>
            <a:r>
              <a:rPr lang="sr-Latn-RS" sz="2800" dirty="0" smtClean="0"/>
              <a:t>                                                  </a:t>
            </a:r>
            <a:r>
              <a:rPr lang="en-US" sz="2800" dirty="0" smtClean="0"/>
              <a:t>sale </a:t>
            </a:r>
            <a:r>
              <a:rPr lang="en-US" sz="2800" dirty="0"/>
              <a:t>+ </a:t>
            </a:r>
            <a:r>
              <a:rPr lang="en-US" sz="2800" dirty="0" err="1"/>
              <a:t>Broj</a:t>
            </a:r>
            <a:r>
              <a:rPr lang="en-US" sz="2800" dirty="0"/>
              <a:t> </a:t>
            </a:r>
            <a:r>
              <a:rPr lang="en-US" sz="2800" dirty="0" err="1"/>
              <a:t>sedišta</a:t>
            </a:r>
            <a:r>
              <a:rPr lang="en-US" sz="2800" dirty="0"/>
              <a:t>).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1007" y="3452792"/>
            <a:ext cx="4108468" cy="2394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712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Kreiranje</a:t>
            </a:r>
            <a:r>
              <a:rPr lang="en-US" sz="4000" dirty="0"/>
              <a:t> </a:t>
            </a:r>
            <a:r>
              <a:rPr lang="en-US" sz="4000" dirty="0" err="1"/>
              <a:t>baza</a:t>
            </a:r>
            <a:r>
              <a:rPr lang="en-US" sz="4000" dirty="0"/>
              <a:t> </a:t>
            </a:r>
            <a:r>
              <a:rPr lang="en-US" sz="4000" dirty="0" err="1"/>
              <a:t>podataka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2114550"/>
            <a:ext cx="8915400" cy="3649188"/>
          </a:xfrm>
        </p:spPr>
        <p:txBody>
          <a:bodyPr>
            <a:normAutofit/>
          </a:bodyPr>
          <a:lstStyle/>
          <a:p>
            <a:r>
              <a:rPr lang="en-US" sz="2800" dirty="0"/>
              <a:t>Nova </a:t>
            </a:r>
            <a:r>
              <a:rPr lang="en-US" sz="2800" dirty="0" err="1"/>
              <a:t>baza</a:t>
            </a:r>
            <a:r>
              <a:rPr lang="en-US" sz="2800" dirty="0"/>
              <a:t> se </a:t>
            </a:r>
            <a:r>
              <a:rPr lang="en-US" sz="2800" dirty="0" err="1"/>
              <a:t>pravi</a:t>
            </a:r>
            <a:r>
              <a:rPr lang="en-US" sz="2800" dirty="0"/>
              <a:t> </a:t>
            </a:r>
            <a:r>
              <a:rPr lang="en-US" sz="2800" dirty="0" err="1"/>
              <a:t>komandom</a:t>
            </a:r>
            <a:r>
              <a:rPr lang="en-US" sz="2800" dirty="0"/>
              <a:t> </a:t>
            </a:r>
            <a:r>
              <a:rPr lang="en-US" sz="2800" dirty="0" smtClean="0"/>
              <a:t>Database </a:t>
            </a:r>
            <a:r>
              <a:rPr lang="en-US" sz="2800" dirty="0"/>
              <a:t>→ Add a database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Potrebno</a:t>
            </a:r>
            <a:r>
              <a:rPr lang="en-US" sz="2800" dirty="0" smtClean="0"/>
              <a:t> </a:t>
            </a:r>
            <a:r>
              <a:rPr lang="en-US" sz="2800" dirty="0"/>
              <a:t>je </a:t>
            </a:r>
            <a:r>
              <a:rPr lang="en-US" sz="2800" dirty="0" err="1"/>
              <a:t>definisati</a:t>
            </a:r>
            <a:r>
              <a:rPr lang="en-US" sz="2800" dirty="0"/>
              <a:t> </a:t>
            </a:r>
            <a:r>
              <a:rPr lang="en-US" sz="2800" dirty="0" err="1"/>
              <a:t>lokaciju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naziv</a:t>
            </a:r>
            <a:r>
              <a:rPr lang="en-US" sz="2800" dirty="0"/>
              <a:t> </a:t>
            </a:r>
            <a:r>
              <a:rPr lang="en-US" sz="2800" dirty="0" err="1"/>
              <a:t>fajla</a:t>
            </a:r>
            <a:r>
              <a:rPr lang="en-US" sz="2800" dirty="0"/>
              <a:t> (</a:t>
            </a:r>
            <a:r>
              <a:rPr lang="en-US" sz="2800" dirty="0" err="1"/>
              <a:t>ekstenzije</a:t>
            </a:r>
            <a:r>
              <a:rPr lang="en-US" sz="2800" dirty="0"/>
              <a:t> .</a:t>
            </a:r>
            <a:r>
              <a:rPr lang="en-US" sz="2800" dirty="0" err="1"/>
              <a:t>db</a:t>
            </a:r>
            <a:r>
              <a:rPr lang="en-US" sz="2800" dirty="0"/>
              <a:t> </a:t>
            </a:r>
            <a:r>
              <a:rPr lang="en-US" sz="2800" dirty="0" err="1"/>
              <a:t>ili</a:t>
            </a:r>
            <a:r>
              <a:rPr lang="en-US" sz="2800" dirty="0"/>
              <a:t> .</a:t>
            </a:r>
            <a:r>
              <a:rPr lang="en-US" sz="2800" dirty="0" err="1"/>
              <a:t>sqlite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Glavni</a:t>
            </a:r>
            <a:r>
              <a:rPr lang="en-US" sz="2800" dirty="0" smtClean="0"/>
              <a:t> </a:t>
            </a:r>
            <a:r>
              <a:rPr lang="en-US" sz="2800" dirty="0" err="1"/>
              <a:t>delovi</a:t>
            </a:r>
            <a:r>
              <a:rPr lang="en-US" sz="2800" dirty="0"/>
              <a:t> </a:t>
            </a:r>
            <a:r>
              <a:rPr lang="en-US" sz="2800" dirty="0" err="1" smtClean="0"/>
              <a:t>interfejsa</a:t>
            </a:r>
            <a:r>
              <a:rPr lang="en-US" sz="2800" dirty="0" smtClean="0"/>
              <a:t>:</a:t>
            </a:r>
            <a:r>
              <a:rPr lang="sr-Latn-RS" sz="2800" dirty="0" smtClean="0"/>
              <a:t> </a:t>
            </a:r>
            <a:r>
              <a:rPr lang="en-US" sz="2800" dirty="0" smtClean="0"/>
              <a:t>Navigator </a:t>
            </a:r>
            <a:r>
              <a:rPr lang="en-US" sz="2800" dirty="0"/>
              <a:t>(</a:t>
            </a:r>
            <a:r>
              <a:rPr lang="en-US" sz="2800" dirty="0" err="1"/>
              <a:t>liste</a:t>
            </a:r>
            <a:r>
              <a:rPr lang="en-US" sz="2800" dirty="0"/>
              <a:t> </a:t>
            </a:r>
            <a:r>
              <a:rPr lang="en-US" sz="2800" dirty="0" err="1"/>
              <a:t>tabela</a:t>
            </a:r>
            <a:r>
              <a:rPr lang="en-US" sz="2800" dirty="0"/>
              <a:t>), </a:t>
            </a:r>
            <a:r>
              <a:rPr lang="en-US" sz="2800" dirty="0" smtClean="0"/>
              <a:t>Editor </a:t>
            </a:r>
            <a:r>
              <a:rPr lang="en-US" sz="2800" dirty="0"/>
              <a:t>(</a:t>
            </a:r>
            <a:r>
              <a:rPr lang="en-US" sz="2800" dirty="0" err="1"/>
              <a:t>unos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) </a:t>
            </a:r>
            <a:r>
              <a:rPr lang="en-US" sz="2800" dirty="0" err="1" smtClean="0"/>
              <a:t>i</a:t>
            </a:r>
            <a:r>
              <a:rPr lang="sr-Latn-RS" sz="2800" dirty="0" smtClean="0"/>
              <a:t> Traka sa alatima</a:t>
            </a:r>
            <a:r>
              <a:rPr lang="en-US" sz="2800" dirty="0" smtClean="0"/>
              <a:t>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69414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Planiranje</a:t>
            </a:r>
            <a:r>
              <a:rPr lang="en-US" sz="4000" dirty="0"/>
              <a:t> </a:t>
            </a:r>
            <a:r>
              <a:rPr lang="en-US" sz="4000" dirty="0" err="1"/>
              <a:t>baze</a:t>
            </a:r>
            <a:r>
              <a:rPr lang="en-US" sz="4000" dirty="0"/>
              <a:t> </a:t>
            </a:r>
            <a:r>
              <a:rPr lang="en-US" sz="4000" dirty="0" err="1" smtClean="0"/>
              <a:t>podataka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2024216"/>
            <a:ext cx="8915400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Najbitnija</a:t>
            </a:r>
            <a:r>
              <a:rPr lang="en-US" sz="2800" dirty="0" smtClean="0"/>
              <a:t> </a:t>
            </a:r>
            <a:r>
              <a:rPr lang="en-US" sz="2800" dirty="0" err="1"/>
              <a:t>faza</a:t>
            </a:r>
            <a:r>
              <a:rPr lang="en-US" sz="2800" dirty="0"/>
              <a:t> </a:t>
            </a:r>
            <a:r>
              <a:rPr lang="en-US" sz="2800" dirty="0" err="1"/>
              <a:t>koja</a:t>
            </a:r>
            <a:r>
              <a:rPr lang="en-US" sz="2800" dirty="0"/>
              <a:t> </a:t>
            </a:r>
            <a:r>
              <a:rPr lang="en-US" sz="2800" dirty="0" err="1"/>
              <a:t>počinje</a:t>
            </a:r>
            <a:r>
              <a:rPr lang="en-US" sz="2800" dirty="0"/>
              <a:t> </a:t>
            </a:r>
            <a:r>
              <a:rPr lang="en-US" sz="2800" dirty="0" err="1"/>
              <a:t>analizom</a:t>
            </a:r>
            <a:r>
              <a:rPr lang="en-US" sz="2800" dirty="0"/>
              <a:t> </a:t>
            </a:r>
            <a:r>
              <a:rPr lang="en-US" sz="2800" dirty="0" err="1"/>
              <a:t>zahteva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svrhe</a:t>
            </a:r>
            <a:r>
              <a:rPr lang="en-US" sz="2800" dirty="0"/>
              <a:t> </a:t>
            </a:r>
            <a:r>
              <a:rPr lang="en-US" sz="2800" dirty="0" err="1"/>
              <a:t>baze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Identifikacija</a:t>
            </a:r>
            <a:r>
              <a:rPr lang="en-US" sz="2800" dirty="0" smtClean="0"/>
              <a:t> </a:t>
            </a:r>
            <a:r>
              <a:rPr lang="en-US" sz="2800" dirty="0" err="1"/>
              <a:t>entiteta</a:t>
            </a:r>
            <a:r>
              <a:rPr lang="en-US" sz="2800" dirty="0"/>
              <a:t> </a:t>
            </a:r>
            <a:r>
              <a:rPr lang="en-US" sz="2800" dirty="0" smtClean="0"/>
              <a:t>(</a:t>
            </a:r>
            <a:r>
              <a:rPr lang="en-US" sz="2800" dirty="0" err="1"/>
              <a:t>ključnih</a:t>
            </a:r>
            <a:r>
              <a:rPr lang="en-US" sz="2800" dirty="0"/>
              <a:t> </a:t>
            </a:r>
            <a:r>
              <a:rPr lang="en-US" sz="2800" dirty="0" err="1" smtClean="0"/>
              <a:t>pojmova</a:t>
            </a:r>
            <a:r>
              <a:rPr lang="en-US" sz="2800" dirty="0" smtClean="0"/>
              <a:t> </a:t>
            </a:r>
            <a:r>
              <a:rPr lang="en-US" sz="2800" dirty="0" err="1"/>
              <a:t>koje</a:t>
            </a:r>
            <a:r>
              <a:rPr lang="en-US" sz="2800" dirty="0"/>
              <a:t> </a:t>
            </a:r>
            <a:r>
              <a:rPr lang="en-US" sz="2800" dirty="0" err="1"/>
              <a:t>baza</a:t>
            </a:r>
            <a:r>
              <a:rPr lang="en-US" sz="2800" dirty="0"/>
              <a:t> </a:t>
            </a:r>
            <a:r>
              <a:rPr lang="en-US" sz="2800" dirty="0" err="1"/>
              <a:t>opisuje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Definisanje</a:t>
            </a:r>
            <a:r>
              <a:rPr lang="en-US" sz="2800" dirty="0" smtClean="0"/>
              <a:t> </a:t>
            </a:r>
            <a:r>
              <a:rPr lang="en-US" sz="2800" dirty="0" err="1"/>
              <a:t>atributa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uspostavljanje</a:t>
            </a:r>
            <a:r>
              <a:rPr lang="en-US" sz="2800" dirty="0"/>
              <a:t> </a:t>
            </a:r>
            <a:r>
              <a:rPr lang="en-US" sz="2800" dirty="0" err="1"/>
              <a:t>veza</a:t>
            </a:r>
            <a:r>
              <a:rPr lang="en-US" sz="2800" dirty="0"/>
              <a:t> </a:t>
            </a:r>
            <a:r>
              <a:rPr lang="en-US" sz="2800" dirty="0" err="1"/>
              <a:t>između</a:t>
            </a:r>
            <a:r>
              <a:rPr lang="en-US" sz="2800" dirty="0"/>
              <a:t> </a:t>
            </a:r>
            <a:r>
              <a:rPr lang="en-US" sz="2800" dirty="0" err="1"/>
              <a:t>njih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97639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Korišćenje</a:t>
            </a:r>
            <a:r>
              <a:rPr lang="en-US" sz="4000" dirty="0"/>
              <a:t> </a:t>
            </a:r>
            <a:r>
              <a:rPr lang="en-US" sz="4000" dirty="0" err="1" smtClean="0"/>
              <a:t>šablona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986116"/>
            <a:ext cx="8915400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Unapred</a:t>
            </a:r>
            <a:r>
              <a:rPr lang="en-US" sz="2800" dirty="0" smtClean="0"/>
              <a:t> </a:t>
            </a:r>
            <a:r>
              <a:rPr lang="en-US" sz="2800" dirty="0" err="1"/>
              <a:t>dizajnirane</a:t>
            </a:r>
            <a:r>
              <a:rPr lang="en-US" sz="2800" dirty="0"/>
              <a:t> </a:t>
            </a:r>
            <a:r>
              <a:rPr lang="en-US" sz="2800" dirty="0" err="1" smtClean="0"/>
              <a:t>baze</a:t>
            </a:r>
            <a:r>
              <a:rPr lang="sr-Latn-RS" sz="2800" dirty="0" smtClean="0"/>
              <a:t>                                                                              </a:t>
            </a:r>
            <a:r>
              <a:rPr lang="en-US" sz="2800" dirty="0" smtClean="0"/>
              <a:t> </a:t>
            </a:r>
            <a:r>
              <a:rPr lang="en-US" sz="2800" dirty="0" err="1"/>
              <a:t>koje</a:t>
            </a:r>
            <a:r>
              <a:rPr lang="en-US" sz="2800" dirty="0"/>
              <a:t> </a:t>
            </a:r>
            <a:r>
              <a:rPr lang="en-US" sz="2800" dirty="0" err="1"/>
              <a:t>omogućavaju</a:t>
            </a:r>
            <a:r>
              <a:rPr lang="en-US" sz="2800" dirty="0"/>
              <a:t> </a:t>
            </a:r>
            <a:r>
              <a:rPr lang="en-US" sz="2800" dirty="0" err="1"/>
              <a:t>trenutni</a:t>
            </a:r>
            <a:r>
              <a:rPr lang="en-US" sz="2800" dirty="0"/>
              <a:t> </a:t>
            </a:r>
            <a:r>
              <a:rPr lang="sr-Latn-RS" sz="2800" dirty="0" smtClean="0"/>
              <a:t>                                        </a:t>
            </a:r>
            <a:r>
              <a:rPr lang="en-US" sz="2800" dirty="0" err="1" smtClean="0"/>
              <a:t>početak</a:t>
            </a:r>
            <a:r>
              <a:rPr lang="en-US" sz="2800" dirty="0" smtClean="0"/>
              <a:t> </a:t>
            </a:r>
            <a:r>
              <a:rPr lang="en-US" sz="2800" dirty="0" err="1"/>
              <a:t>rada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Prednosti</a:t>
            </a:r>
            <a:r>
              <a:rPr lang="en-US" sz="2800" dirty="0"/>
              <a:t>: </a:t>
            </a:r>
            <a:r>
              <a:rPr lang="en-US" sz="2800" dirty="0" err="1"/>
              <a:t>Brzina</a:t>
            </a:r>
            <a:r>
              <a:rPr lang="en-US" sz="2800" dirty="0"/>
              <a:t> </a:t>
            </a:r>
            <a:r>
              <a:rPr lang="en-US" sz="2800" dirty="0" err="1"/>
              <a:t>izrade</a:t>
            </a:r>
            <a:r>
              <a:rPr lang="en-US" sz="2800" dirty="0"/>
              <a:t>, </a:t>
            </a:r>
            <a:r>
              <a:rPr lang="en-US" sz="2800" dirty="0" err="1"/>
              <a:t>profesionalni</a:t>
            </a:r>
            <a:r>
              <a:rPr lang="en-US" sz="2800" dirty="0"/>
              <a:t> </a:t>
            </a:r>
            <a:r>
              <a:rPr lang="en-US" sz="2800" dirty="0" err="1"/>
              <a:t>dizajn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kompletnost</a:t>
            </a:r>
            <a:r>
              <a:rPr lang="en-US" sz="2800" dirty="0"/>
              <a:t> (</a:t>
            </a:r>
            <a:r>
              <a:rPr lang="en-US" sz="2800" dirty="0" err="1"/>
              <a:t>forme</a:t>
            </a:r>
            <a:r>
              <a:rPr lang="en-US" sz="2800" dirty="0"/>
              <a:t>, </a:t>
            </a:r>
            <a:r>
              <a:rPr lang="en-US" sz="2800" dirty="0" err="1"/>
              <a:t>izveštaji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smtClean="0"/>
              <a:t>Mane</a:t>
            </a:r>
            <a:r>
              <a:rPr lang="en-US" sz="2800" dirty="0"/>
              <a:t>: </a:t>
            </a:r>
            <a:r>
              <a:rPr lang="en-US" sz="2800" dirty="0" err="1"/>
              <a:t>Suvišna</a:t>
            </a:r>
            <a:r>
              <a:rPr lang="en-US" sz="2800" dirty="0"/>
              <a:t> </a:t>
            </a:r>
            <a:r>
              <a:rPr lang="en-US" sz="2800" dirty="0" err="1"/>
              <a:t>polja</a:t>
            </a:r>
            <a:r>
              <a:rPr lang="en-US" sz="2800" dirty="0"/>
              <a:t>, </a:t>
            </a:r>
            <a:r>
              <a:rPr lang="en-US" sz="2800" dirty="0" err="1"/>
              <a:t>teško</a:t>
            </a:r>
            <a:r>
              <a:rPr lang="en-US" sz="2800" dirty="0"/>
              <a:t> </a:t>
            </a:r>
            <a:r>
              <a:rPr lang="en-US" sz="2800" dirty="0" err="1"/>
              <a:t>prilagođavanje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zavisnost</a:t>
            </a:r>
            <a:r>
              <a:rPr lang="en-US" sz="2800" dirty="0"/>
              <a:t> od </a:t>
            </a:r>
            <a:r>
              <a:rPr lang="en-US" sz="2800" dirty="0" err="1"/>
              <a:t>engleskog</a:t>
            </a:r>
            <a:r>
              <a:rPr lang="en-US" sz="2800" dirty="0"/>
              <a:t> </a:t>
            </a:r>
            <a:r>
              <a:rPr lang="en-US" sz="2800" dirty="0" err="1"/>
              <a:t>jezika</a:t>
            </a:r>
            <a:r>
              <a:rPr lang="en-US" sz="2800" dirty="0"/>
              <a:t>.</a:t>
            </a: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7489052" y="739299"/>
            <a:ext cx="4015560" cy="2331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072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Kreiranje</a:t>
            </a:r>
            <a:r>
              <a:rPr lang="en-US" sz="4000" dirty="0"/>
              <a:t> </a:t>
            </a:r>
            <a:r>
              <a:rPr lang="en-US" sz="4000" dirty="0" err="1"/>
              <a:t>tabela</a:t>
            </a:r>
            <a:r>
              <a:rPr lang="en-US" sz="4000" dirty="0"/>
              <a:t> u Microsoft </a:t>
            </a:r>
            <a:r>
              <a:rPr lang="en-US" sz="4000" dirty="0" smtClean="0"/>
              <a:t>Access-u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986116"/>
            <a:ext cx="8915400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Dva</a:t>
            </a:r>
            <a:r>
              <a:rPr lang="en-US" sz="2800" dirty="0" smtClean="0"/>
              <a:t> </a:t>
            </a:r>
            <a:r>
              <a:rPr lang="en-US" sz="2800" dirty="0" err="1"/>
              <a:t>osnovna</a:t>
            </a:r>
            <a:r>
              <a:rPr lang="en-US" sz="2800" dirty="0"/>
              <a:t> </a:t>
            </a:r>
            <a:r>
              <a:rPr lang="en-US" sz="2800" dirty="0" err="1"/>
              <a:t>prikaza</a:t>
            </a:r>
            <a:r>
              <a:rPr lang="en-US" sz="2800" dirty="0"/>
              <a:t>: Datasheet View (</a:t>
            </a:r>
            <a:r>
              <a:rPr lang="en-US" sz="2800" dirty="0" err="1"/>
              <a:t>lista</a:t>
            </a:r>
            <a:r>
              <a:rPr lang="en-US" sz="2800" dirty="0"/>
              <a:t>) </a:t>
            </a:r>
            <a:r>
              <a:rPr lang="en-US" sz="2800" dirty="0" err="1"/>
              <a:t>i</a:t>
            </a:r>
            <a:r>
              <a:rPr lang="en-US" sz="2800" dirty="0"/>
              <a:t> Design View (</a:t>
            </a:r>
            <a:r>
              <a:rPr lang="en-US" sz="2800" dirty="0" err="1"/>
              <a:t>dizajn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smtClean="0"/>
              <a:t>U </a:t>
            </a:r>
            <a:r>
              <a:rPr lang="en-US" sz="2800" dirty="0"/>
              <a:t>Design View se </a:t>
            </a:r>
            <a:r>
              <a:rPr lang="en-US" sz="2800" dirty="0" err="1"/>
              <a:t>definišu</a:t>
            </a:r>
            <a:r>
              <a:rPr lang="en-US" sz="2800" dirty="0"/>
              <a:t> </a:t>
            </a:r>
            <a:r>
              <a:rPr lang="en-US" sz="2800" dirty="0" err="1"/>
              <a:t>nazivi</a:t>
            </a:r>
            <a:r>
              <a:rPr lang="en-US" sz="2800" dirty="0"/>
              <a:t> </a:t>
            </a:r>
            <a:r>
              <a:rPr lang="en-US" sz="2800" dirty="0" err="1"/>
              <a:t>polja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tipovi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Access </a:t>
            </a:r>
            <a:r>
              <a:rPr lang="en-US" sz="2800" dirty="0" err="1"/>
              <a:t>automatski</a:t>
            </a:r>
            <a:r>
              <a:rPr lang="en-US" sz="2800" dirty="0"/>
              <a:t> </a:t>
            </a:r>
            <a:r>
              <a:rPr lang="en-US" sz="2800" dirty="0" err="1"/>
              <a:t>može</a:t>
            </a:r>
            <a:r>
              <a:rPr lang="en-US" sz="2800" dirty="0"/>
              <a:t> </a:t>
            </a:r>
            <a:r>
              <a:rPr lang="en-US" sz="2800" dirty="0" err="1"/>
              <a:t>kreirati</a:t>
            </a:r>
            <a:r>
              <a:rPr lang="en-US" sz="2800" dirty="0"/>
              <a:t> ID </a:t>
            </a:r>
            <a:r>
              <a:rPr lang="en-US" sz="2800" dirty="0" err="1"/>
              <a:t>polje</a:t>
            </a:r>
            <a:r>
              <a:rPr lang="en-US" sz="2800" dirty="0"/>
              <a:t> </a:t>
            </a:r>
            <a:r>
              <a:rPr lang="en-US" sz="2800" dirty="0" err="1"/>
              <a:t>kao</a:t>
            </a:r>
            <a:r>
              <a:rPr lang="en-US" sz="2800" dirty="0"/>
              <a:t> </a:t>
            </a:r>
            <a:r>
              <a:rPr lang="en-US" sz="2800" dirty="0" err="1"/>
              <a:t>primarni</a:t>
            </a:r>
            <a:r>
              <a:rPr lang="en-US" sz="2800" dirty="0"/>
              <a:t> </a:t>
            </a:r>
            <a:r>
              <a:rPr lang="en-US" sz="2800" dirty="0" err="1" smtClean="0"/>
              <a:t>ključ</a:t>
            </a:r>
            <a:r>
              <a:rPr lang="sr-Latn-RS" sz="2800" dirty="0" smtClean="0"/>
              <a:t>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95671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Tipovi</a:t>
            </a:r>
            <a:r>
              <a:rPr lang="en-US" sz="4000" dirty="0"/>
              <a:t> </a:t>
            </a:r>
            <a:r>
              <a:rPr lang="en-US" sz="4000" dirty="0" err="1"/>
              <a:t>podataka</a:t>
            </a:r>
            <a:r>
              <a:rPr lang="en-US" sz="4000" dirty="0"/>
              <a:t> (Data Type)</a:t>
            </a:r>
            <a:r>
              <a:rPr lang="sr-Latn-RS" sz="4000" dirty="0"/>
              <a:t>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8" y="1533525"/>
            <a:ext cx="9752371" cy="4230213"/>
          </a:xfrm>
        </p:spPr>
        <p:txBody>
          <a:bodyPr>
            <a:normAutofit/>
          </a:bodyPr>
          <a:lstStyle/>
          <a:p>
            <a:r>
              <a:rPr lang="en-US" sz="2800" dirty="0" smtClean="0"/>
              <a:t>Short </a:t>
            </a:r>
            <a:r>
              <a:rPr lang="en-US" sz="2800" dirty="0"/>
              <a:t>Text: </a:t>
            </a:r>
            <a:r>
              <a:rPr lang="en-US" sz="2800" dirty="0" err="1"/>
              <a:t>Tekst</a:t>
            </a:r>
            <a:r>
              <a:rPr lang="en-US" sz="2800" dirty="0"/>
              <a:t> do 255 </a:t>
            </a:r>
            <a:r>
              <a:rPr lang="en-US" sz="2800" dirty="0" err="1"/>
              <a:t>karaktera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Ime</a:t>
            </a:r>
            <a:r>
              <a:rPr lang="en-US" sz="2800" dirty="0"/>
              <a:t>, </a:t>
            </a:r>
            <a:r>
              <a:rPr lang="en-US" sz="2800" dirty="0" err="1"/>
              <a:t>Marka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smtClean="0"/>
              <a:t>Number</a:t>
            </a:r>
            <a:r>
              <a:rPr lang="en-US" sz="2800" dirty="0"/>
              <a:t>: </a:t>
            </a:r>
            <a:r>
              <a:rPr lang="en-US" sz="2800" dirty="0" err="1"/>
              <a:t>Brojne</a:t>
            </a:r>
            <a:r>
              <a:rPr lang="en-US" sz="2800" dirty="0"/>
              <a:t> </a:t>
            </a:r>
            <a:r>
              <a:rPr lang="en-US" sz="2800" dirty="0" err="1"/>
              <a:t>vrednosti</a:t>
            </a:r>
            <a:r>
              <a:rPr lang="en-US" sz="2800" dirty="0"/>
              <a:t> </a:t>
            </a:r>
            <a:r>
              <a:rPr lang="en-US" sz="2800" dirty="0" err="1"/>
              <a:t>za</a:t>
            </a:r>
            <a:r>
              <a:rPr lang="en-US" sz="2800" dirty="0"/>
              <a:t> </a:t>
            </a:r>
            <a:r>
              <a:rPr lang="en-US" sz="2800" dirty="0" err="1"/>
              <a:t>proračune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Date/Time</a:t>
            </a:r>
            <a:r>
              <a:rPr lang="en-US" sz="2800" dirty="0"/>
              <a:t>: </a:t>
            </a:r>
            <a:r>
              <a:rPr lang="en-US" sz="2800" dirty="0" err="1"/>
              <a:t>Datumi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vremena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Yes/No</a:t>
            </a:r>
            <a:r>
              <a:rPr lang="en-US" sz="2800" dirty="0"/>
              <a:t>: </a:t>
            </a:r>
            <a:r>
              <a:rPr lang="en-US" sz="2800" dirty="0" err="1"/>
              <a:t>Logička</a:t>
            </a:r>
            <a:r>
              <a:rPr lang="en-US" sz="2800" dirty="0"/>
              <a:t> </a:t>
            </a:r>
            <a:r>
              <a:rPr lang="en-US" sz="2800" dirty="0" err="1"/>
              <a:t>polja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"Da li je </a:t>
            </a:r>
            <a:r>
              <a:rPr lang="en-US" sz="2800" dirty="0" err="1"/>
              <a:t>proizvod</a:t>
            </a:r>
            <a:r>
              <a:rPr lang="en-US" sz="2800" dirty="0"/>
              <a:t>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stanju</a:t>
            </a:r>
            <a:r>
              <a:rPr lang="en-US" sz="2800" dirty="0" smtClean="0"/>
              <a:t>?").</a:t>
            </a:r>
            <a:endParaRPr lang="en-US" sz="280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024430"/>
              </p:ext>
            </p:extLst>
          </p:nvPr>
        </p:nvGraphicFramePr>
        <p:xfrm>
          <a:off x="2857501" y="4314823"/>
          <a:ext cx="7362824" cy="20722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72212">
                  <a:extLst>
                    <a:ext uri="{9D8B030D-6E8A-4147-A177-3AD203B41FA5}">
                      <a16:colId xmlns:a16="http://schemas.microsoft.com/office/drawing/2014/main" val="2134330895"/>
                    </a:ext>
                  </a:extLst>
                </a:gridCol>
                <a:gridCol w="3062695">
                  <a:extLst>
                    <a:ext uri="{9D8B030D-6E8A-4147-A177-3AD203B41FA5}">
                      <a16:colId xmlns:a16="http://schemas.microsoft.com/office/drawing/2014/main" val="1026180620"/>
                    </a:ext>
                  </a:extLst>
                </a:gridCol>
                <a:gridCol w="2827917">
                  <a:extLst>
                    <a:ext uri="{9D8B030D-6E8A-4147-A177-3AD203B41FA5}">
                      <a16:colId xmlns:a16="http://schemas.microsoft.com/office/drawing/2014/main" val="3347017927"/>
                    </a:ext>
                  </a:extLst>
                </a:gridCol>
              </a:tblGrid>
              <a:tr h="289358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Tip podataka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Namena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Primer iz našeg zadatka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extLst>
                  <a:ext uri="{0D108BD9-81ED-4DB2-BD59-A6C34878D82A}">
                    <a16:rowId xmlns:a16="http://schemas.microsoft.com/office/drawing/2014/main" val="1408620896"/>
                  </a:ext>
                </a:extLst>
              </a:tr>
              <a:tr h="625044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Short Text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 dirty="0" err="1">
                          <a:effectLst/>
                        </a:rPr>
                        <a:t>Tekstualni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podaci</a:t>
                      </a:r>
                      <a:r>
                        <a:rPr lang="en-US" sz="1400" dirty="0">
                          <a:effectLst/>
                        </a:rPr>
                        <a:t> do 255 </a:t>
                      </a:r>
                      <a:r>
                        <a:rPr lang="en-US" sz="1400" dirty="0" err="1">
                          <a:effectLst/>
                        </a:rPr>
                        <a:t>karaktera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Polja Marka i Klasa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extLst>
                  <a:ext uri="{0D108BD9-81ED-4DB2-BD59-A6C34878D82A}">
                    <a16:rowId xmlns:a16="http://schemas.microsoft.com/office/drawing/2014/main" val="251424144"/>
                  </a:ext>
                </a:extLst>
              </a:tr>
              <a:tr h="289469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Number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 dirty="0" err="1">
                          <a:effectLst/>
                        </a:rPr>
                        <a:t>Brojne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vrednosti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za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proračune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Broj sedišta ili kubikaža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extLst>
                  <a:ext uri="{0D108BD9-81ED-4DB2-BD59-A6C34878D82A}">
                    <a16:rowId xmlns:a16="http://schemas.microsoft.com/office/drawing/2014/main" val="2828071754"/>
                  </a:ext>
                </a:extLst>
              </a:tr>
              <a:tr h="289469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AutoNumber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 dirty="0" err="1">
                          <a:effectLst/>
                        </a:rPr>
                        <a:t>Automatski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generisan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broj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Veštački primarni ključ (ID)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extLst>
                  <a:ext uri="{0D108BD9-81ED-4DB2-BD59-A6C34878D82A}">
                    <a16:rowId xmlns:a16="http://schemas.microsoft.com/office/drawing/2014/main" val="873738116"/>
                  </a:ext>
                </a:extLst>
              </a:tr>
              <a:tr h="289469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Date/Time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Datumi i vremenske odrednice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Datum poslednje popravke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extLst>
                  <a:ext uri="{0D108BD9-81ED-4DB2-BD59-A6C34878D82A}">
                    <a16:rowId xmlns:a16="http://schemas.microsoft.com/office/drawing/2014/main" val="4185359575"/>
                  </a:ext>
                </a:extLst>
              </a:tr>
              <a:tr h="289469"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Yes/No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Logička polja (Check-box)</a:t>
                      </a:r>
                      <a:endParaRPr lang="en-US" sz="140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tc>
                  <a:txBody>
                    <a:bodyPr/>
                    <a:lstStyle/>
                    <a:p>
                      <a:pPr marL="168275" indent="-168275"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Da li je </a:t>
                      </a:r>
                      <a:r>
                        <a:rPr lang="en-US" sz="1400" dirty="0" err="1">
                          <a:effectLst/>
                        </a:rPr>
                        <a:t>automobil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na</a:t>
                      </a:r>
                      <a:r>
                        <a:rPr lang="en-US" sz="1400" dirty="0">
                          <a:effectLst/>
                        </a:rPr>
                        <a:t> </a:t>
                      </a:r>
                      <a:r>
                        <a:rPr lang="en-US" sz="1400" dirty="0" err="1">
                          <a:effectLst/>
                        </a:rPr>
                        <a:t>servisu</a:t>
                      </a:r>
                      <a:r>
                        <a:rPr lang="en-US" sz="1400" dirty="0">
                          <a:effectLst/>
                        </a:rPr>
                        <a:t>?</a:t>
                      </a:r>
                      <a:endParaRPr lang="en-US" sz="14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640" marR="37465" marT="10160" marB="0"/>
                </a:tc>
                <a:extLst>
                  <a:ext uri="{0D108BD9-81ED-4DB2-BD59-A6C34878D82A}">
                    <a16:rowId xmlns:a16="http://schemas.microsoft.com/office/drawing/2014/main" val="11949379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7898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68129" y="624110"/>
            <a:ext cx="9636483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Unošenje</a:t>
            </a:r>
            <a:r>
              <a:rPr lang="en-US" sz="4000" dirty="0"/>
              <a:t> </a:t>
            </a:r>
            <a:r>
              <a:rPr lang="en-US" sz="4000" dirty="0" err="1"/>
              <a:t>podataka</a:t>
            </a:r>
            <a:r>
              <a:rPr lang="en-US" sz="4000" dirty="0"/>
              <a:t> u </a:t>
            </a:r>
            <a:r>
              <a:rPr lang="en-US" sz="4000" dirty="0" err="1" smtClean="0"/>
              <a:t>tabelu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8129" y="1986116"/>
            <a:ext cx="8915400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Direktan</a:t>
            </a:r>
            <a:r>
              <a:rPr lang="en-US" sz="2800" dirty="0" smtClean="0"/>
              <a:t> </a:t>
            </a:r>
            <a:r>
              <a:rPr lang="en-US" sz="2800" dirty="0" err="1"/>
              <a:t>unos</a:t>
            </a:r>
            <a:r>
              <a:rPr lang="en-US" sz="2800" dirty="0"/>
              <a:t>: </a:t>
            </a:r>
            <a:r>
              <a:rPr lang="en-US" sz="2800" dirty="0" err="1"/>
              <a:t>Slično</a:t>
            </a:r>
            <a:r>
              <a:rPr lang="en-US" sz="2800" dirty="0"/>
              <a:t> </a:t>
            </a:r>
            <a:r>
              <a:rPr lang="en-US" sz="2800" dirty="0" err="1"/>
              <a:t>radu</a:t>
            </a:r>
            <a:r>
              <a:rPr lang="en-US" sz="2800" dirty="0"/>
              <a:t> u </a:t>
            </a:r>
            <a:r>
              <a:rPr lang="en-US" sz="2800" dirty="0" smtClean="0"/>
              <a:t>Excel-u </a:t>
            </a:r>
            <a:r>
              <a:rPr lang="en-US" sz="2800" dirty="0" err="1"/>
              <a:t>kroz</a:t>
            </a:r>
            <a:r>
              <a:rPr lang="en-US" sz="2800" dirty="0"/>
              <a:t> Datasheet View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Preko</a:t>
            </a:r>
            <a:r>
              <a:rPr lang="en-US" sz="2800" dirty="0" smtClean="0"/>
              <a:t> </a:t>
            </a:r>
            <a:r>
              <a:rPr lang="en-US" sz="2800" dirty="0" err="1"/>
              <a:t>Forme</a:t>
            </a:r>
            <a:r>
              <a:rPr lang="en-US" sz="2800" dirty="0"/>
              <a:t>: </a:t>
            </a:r>
            <a:r>
              <a:rPr lang="en-US" sz="2800" dirty="0" err="1"/>
              <a:t>Pregledniji</a:t>
            </a:r>
            <a:r>
              <a:rPr lang="en-US" sz="2800" dirty="0"/>
              <a:t> </a:t>
            </a:r>
            <a:r>
              <a:rPr lang="en-US" sz="2800" dirty="0" err="1"/>
              <a:t>unos</a:t>
            </a:r>
            <a:r>
              <a:rPr lang="en-US" sz="2800" dirty="0"/>
              <a:t> </a:t>
            </a:r>
            <a:r>
              <a:rPr lang="en-US" sz="2800" dirty="0" err="1"/>
              <a:t>jednog</a:t>
            </a:r>
            <a:r>
              <a:rPr lang="en-US" sz="2800" dirty="0"/>
              <a:t> </a:t>
            </a:r>
            <a:r>
              <a:rPr lang="en-US" sz="2800" dirty="0" err="1"/>
              <a:t>po</a:t>
            </a:r>
            <a:r>
              <a:rPr lang="en-US" sz="2800" dirty="0"/>
              <a:t> </a:t>
            </a:r>
            <a:r>
              <a:rPr lang="en-US" sz="2800" dirty="0" err="1"/>
              <a:t>jednog</a:t>
            </a:r>
            <a:r>
              <a:rPr lang="en-US" sz="2800" dirty="0"/>
              <a:t> </a:t>
            </a:r>
            <a:r>
              <a:rPr lang="en-US" sz="2800" dirty="0" err="1"/>
              <a:t>zapisa</a:t>
            </a:r>
            <a:r>
              <a:rPr lang="en-US" sz="2800" dirty="0"/>
              <a:t>, </a:t>
            </a:r>
            <a:r>
              <a:rPr lang="en-US" sz="2800" dirty="0" err="1"/>
              <a:t>smanjuje</a:t>
            </a:r>
            <a:r>
              <a:rPr lang="en-US" sz="2800" dirty="0"/>
              <a:t> </a:t>
            </a:r>
            <a:r>
              <a:rPr lang="en-US" sz="2800" dirty="0" err="1"/>
              <a:t>greške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smtClean="0"/>
              <a:t>Lookup </a:t>
            </a:r>
            <a:r>
              <a:rPr lang="en-US" sz="2800" dirty="0" err="1"/>
              <a:t>polja</a:t>
            </a:r>
            <a:r>
              <a:rPr lang="en-US" sz="2800" dirty="0"/>
              <a:t>: </a:t>
            </a:r>
            <a:r>
              <a:rPr lang="en-US" sz="2800" dirty="0" err="1"/>
              <a:t>Padajući</a:t>
            </a:r>
            <a:r>
              <a:rPr lang="en-US" sz="2800" dirty="0"/>
              <a:t> </a:t>
            </a:r>
            <a:r>
              <a:rPr lang="en-US" sz="2800" dirty="0" err="1"/>
              <a:t>meniji</a:t>
            </a:r>
            <a:r>
              <a:rPr lang="en-US" sz="2800" dirty="0"/>
              <a:t> </a:t>
            </a:r>
            <a:r>
              <a:rPr lang="en-US" sz="2800" dirty="0" err="1"/>
              <a:t>za</a:t>
            </a:r>
            <a:r>
              <a:rPr lang="en-US" sz="2800" dirty="0"/>
              <a:t> </a:t>
            </a:r>
            <a:r>
              <a:rPr lang="en-US" sz="2800" dirty="0" err="1"/>
              <a:t>biranje</a:t>
            </a:r>
            <a:r>
              <a:rPr lang="en-US" sz="2800" dirty="0"/>
              <a:t> </a:t>
            </a:r>
            <a:r>
              <a:rPr lang="en-US" sz="2800" dirty="0" err="1"/>
              <a:t>vrednosti</a:t>
            </a:r>
            <a:r>
              <a:rPr lang="en-US" sz="2800" dirty="0"/>
              <a:t> </a:t>
            </a:r>
            <a:r>
              <a:rPr lang="en-US" sz="2800" dirty="0" err="1"/>
              <a:t>iz</a:t>
            </a:r>
            <a:r>
              <a:rPr lang="en-US" sz="2800" dirty="0"/>
              <a:t> </a:t>
            </a:r>
            <a:r>
              <a:rPr lang="en-US" sz="2800" dirty="0" err="1"/>
              <a:t>drugih</a:t>
            </a:r>
            <a:r>
              <a:rPr lang="en-US" sz="2800" dirty="0"/>
              <a:t> </a:t>
            </a:r>
            <a:r>
              <a:rPr lang="en-US" sz="2800" dirty="0" err="1"/>
              <a:t>tabela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762455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9751" y="624110"/>
            <a:ext cx="9694862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Vrste</a:t>
            </a:r>
            <a:r>
              <a:rPr lang="en-US" sz="4000" dirty="0"/>
              <a:t> </a:t>
            </a:r>
            <a:r>
              <a:rPr lang="en-US" sz="4000" dirty="0" err="1"/>
              <a:t>veza</a:t>
            </a:r>
            <a:r>
              <a:rPr lang="en-US" sz="4000" dirty="0"/>
              <a:t> </a:t>
            </a:r>
            <a:r>
              <a:rPr lang="en-US" sz="4000" dirty="0" err="1"/>
              <a:t>između</a:t>
            </a:r>
            <a:r>
              <a:rPr lang="en-US" sz="4000" dirty="0"/>
              <a:t> </a:t>
            </a:r>
            <a:r>
              <a:rPr lang="en-US" sz="4000" dirty="0" err="1" smtClean="0"/>
              <a:t>tabela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9750" y="2133600"/>
            <a:ext cx="9694862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Jedan-prema-više</a:t>
            </a:r>
            <a:r>
              <a:rPr lang="en-US" sz="2800" dirty="0" smtClean="0"/>
              <a:t> </a:t>
            </a:r>
            <a:r>
              <a:rPr lang="en-US" sz="2800" dirty="0"/>
              <a:t>(1:N): </a:t>
            </a:r>
            <a:r>
              <a:rPr lang="en-US" sz="2800" dirty="0" err="1"/>
              <a:t>Najčešća</a:t>
            </a:r>
            <a:r>
              <a:rPr lang="en-US" sz="2800" dirty="0"/>
              <a:t> </a:t>
            </a:r>
            <a:r>
              <a:rPr lang="en-US" sz="2800" dirty="0" err="1"/>
              <a:t>veza</a:t>
            </a:r>
            <a:r>
              <a:rPr lang="en-US" sz="2800" dirty="0"/>
              <a:t> 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jedno</a:t>
            </a:r>
            <a:r>
              <a:rPr lang="en-US" sz="2800" dirty="0"/>
              <a:t> </a:t>
            </a:r>
            <a:r>
              <a:rPr lang="en-US" sz="2800" dirty="0" err="1"/>
              <a:t>odeljenje</a:t>
            </a:r>
            <a:r>
              <a:rPr lang="en-US" sz="2800" dirty="0"/>
              <a:t> — </a:t>
            </a:r>
            <a:r>
              <a:rPr lang="en-US" sz="2800" dirty="0" err="1"/>
              <a:t>više</a:t>
            </a:r>
            <a:r>
              <a:rPr lang="en-US" sz="2800" dirty="0"/>
              <a:t> </a:t>
            </a:r>
            <a:r>
              <a:rPr lang="en-US" sz="2800" dirty="0" err="1"/>
              <a:t>učenika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Više-prema-više</a:t>
            </a:r>
            <a:r>
              <a:rPr lang="en-US" sz="2800" dirty="0" smtClean="0"/>
              <a:t> </a:t>
            </a:r>
            <a:r>
              <a:rPr lang="en-US" sz="2800" dirty="0"/>
              <a:t>(M:N): 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učenik</a:t>
            </a:r>
            <a:r>
              <a:rPr lang="en-US" sz="2800" dirty="0"/>
              <a:t> </a:t>
            </a:r>
            <a:r>
              <a:rPr lang="en-US" sz="2800" dirty="0" err="1"/>
              <a:t>ima</a:t>
            </a:r>
            <a:r>
              <a:rPr lang="en-US" sz="2800" dirty="0"/>
              <a:t> </a:t>
            </a:r>
            <a:r>
              <a:rPr lang="en-US" sz="2800" dirty="0" err="1"/>
              <a:t>više</a:t>
            </a:r>
            <a:r>
              <a:rPr lang="en-US" sz="2800" dirty="0"/>
              <a:t> </a:t>
            </a:r>
            <a:r>
              <a:rPr lang="en-US" sz="2800" dirty="0" err="1"/>
              <a:t>predmeta</a:t>
            </a:r>
            <a:r>
              <a:rPr lang="en-US" sz="2800" dirty="0"/>
              <a:t>, </a:t>
            </a:r>
            <a:r>
              <a:rPr lang="en-US" sz="2800" dirty="0" err="1"/>
              <a:t>predmet</a:t>
            </a:r>
            <a:r>
              <a:rPr lang="en-US" sz="2800" dirty="0"/>
              <a:t> </a:t>
            </a:r>
            <a:r>
              <a:rPr lang="en-US" sz="2800" dirty="0" err="1"/>
              <a:t>sluša</a:t>
            </a:r>
            <a:r>
              <a:rPr lang="en-US" sz="2800" dirty="0"/>
              <a:t> </a:t>
            </a:r>
            <a:r>
              <a:rPr lang="en-US" sz="2800" dirty="0" err="1"/>
              <a:t>više</a:t>
            </a:r>
            <a:r>
              <a:rPr lang="en-US" sz="2800" dirty="0"/>
              <a:t> </a:t>
            </a:r>
            <a:r>
              <a:rPr lang="en-US" sz="2800" dirty="0" err="1"/>
              <a:t>učenika</a:t>
            </a:r>
            <a:r>
              <a:rPr lang="en-US" sz="2800" dirty="0" smtClean="0"/>
              <a:t>).</a:t>
            </a:r>
            <a:endParaRPr lang="sr-Latn-RS" sz="2800" dirty="0" smtClean="0"/>
          </a:p>
          <a:p>
            <a:r>
              <a:rPr lang="en-US" sz="2800" dirty="0" err="1" smtClean="0"/>
              <a:t>Jedan-prema-jedan</a:t>
            </a:r>
            <a:r>
              <a:rPr lang="en-US" sz="2800" dirty="0" smtClean="0"/>
              <a:t> </a:t>
            </a:r>
            <a:r>
              <a:rPr lang="en-US" sz="2800" dirty="0"/>
              <a:t>(1:1): (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svakom</a:t>
            </a:r>
            <a:r>
              <a:rPr lang="en-US" sz="2800" dirty="0"/>
              <a:t> </a:t>
            </a:r>
            <a:r>
              <a:rPr lang="en-US" sz="2800" dirty="0" err="1"/>
              <a:t>učeniku</a:t>
            </a:r>
            <a:r>
              <a:rPr lang="en-US" sz="2800" dirty="0"/>
              <a:t> </a:t>
            </a:r>
            <a:r>
              <a:rPr lang="en-US" sz="2800" dirty="0" err="1"/>
              <a:t>pripada</a:t>
            </a:r>
            <a:r>
              <a:rPr lang="en-US" sz="2800" dirty="0"/>
              <a:t> </a:t>
            </a:r>
            <a:r>
              <a:rPr lang="en-US" sz="2800" dirty="0" err="1"/>
              <a:t>jedan</a:t>
            </a:r>
            <a:r>
              <a:rPr lang="en-US" sz="2800" dirty="0"/>
              <a:t> </a:t>
            </a:r>
            <a:r>
              <a:rPr lang="en-US" sz="2800" dirty="0" err="1"/>
              <a:t>broj</a:t>
            </a:r>
            <a:r>
              <a:rPr lang="en-US" sz="2800" dirty="0"/>
              <a:t> u </a:t>
            </a:r>
            <a:r>
              <a:rPr lang="en-US" sz="2800" dirty="0" err="1"/>
              <a:t>dnevniku</a:t>
            </a:r>
            <a:r>
              <a:rPr lang="en-US" sz="28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72585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09751" y="624110"/>
            <a:ext cx="9694862" cy="1280890"/>
          </a:xfrm>
        </p:spPr>
        <p:txBody>
          <a:bodyPr>
            <a:normAutofit/>
          </a:bodyPr>
          <a:lstStyle/>
          <a:p>
            <a:r>
              <a:rPr lang="en-US" sz="4000" dirty="0" err="1"/>
              <a:t>Referencijalni</a:t>
            </a:r>
            <a:r>
              <a:rPr lang="en-US" sz="4000" dirty="0"/>
              <a:t> </a:t>
            </a:r>
            <a:r>
              <a:rPr lang="en-US" sz="4000" dirty="0" err="1"/>
              <a:t>integritet</a:t>
            </a:r>
            <a:endParaRPr lang="sr-Latn-R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09750" y="2133600"/>
            <a:ext cx="9694862" cy="3777622"/>
          </a:xfrm>
        </p:spPr>
        <p:txBody>
          <a:bodyPr>
            <a:normAutofit/>
          </a:bodyPr>
          <a:lstStyle/>
          <a:p>
            <a:r>
              <a:rPr lang="en-US" sz="2800" dirty="0" err="1" smtClean="0"/>
              <a:t>Pravilo</a:t>
            </a:r>
            <a:r>
              <a:rPr lang="en-US" sz="2800" dirty="0" smtClean="0"/>
              <a:t> </a:t>
            </a:r>
            <a:r>
              <a:rPr lang="en-US" sz="2800" dirty="0" err="1"/>
              <a:t>koje</a:t>
            </a:r>
            <a:r>
              <a:rPr lang="en-US" sz="2800" dirty="0"/>
              <a:t> </a:t>
            </a:r>
            <a:r>
              <a:rPr lang="en-US" sz="2800" dirty="0" err="1"/>
              <a:t>osigurava</a:t>
            </a:r>
            <a:r>
              <a:rPr lang="en-US" sz="2800" dirty="0"/>
              <a:t> da </a:t>
            </a:r>
            <a:r>
              <a:rPr lang="en-US" sz="2800" dirty="0" err="1"/>
              <a:t>baza</a:t>
            </a:r>
            <a:r>
              <a:rPr lang="en-US" sz="2800" dirty="0"/>
              <a:t> ne </a:t>
            </a:r>
            <a:r>
              <a:rPr lang="en-US" sz="2800" dirty="0" err="1"/>
              <a:t>dozvoli</a:t>
            </a:r>
            <a:r>
              <a:rPr lang="en-US" sz="2800" dirty="0"/>
              <a:t> </a:t>
            </a:r>
            <a:r>
              <a:rPr lang="en-US" sz="2800" dirty="0" err="1"/>
              <a:t>unos</a:t>
            </a:r>
            <a:r>
              <a:rPr lang="en-US" sz="2800" dirty="0"/>
              <a:t> </a:t>
            </a:r>
            <a:r>
              <a:rPr lang="en-US" sz="2800" dirty="0" err="1"/>
              <a:t>nelogičnih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Sprečava</a:t>
            </a:r>
            <a:r>
              <a:rPr lang="en-US" sz="2800" dirty="0" smtClean="0"/>
              <a:t> </a:t>
            </a:r>
            <a:r>
              <a:rPr lang="en-US" sz="2800" dirty="0" err="1"/>
              <a:t>npr</a:t>
            </a:r>
            <a:r>
              <a:rPr lang="en-US" sz="2800" dirty="0"/>
              <a:t>. </a:t>
            </a:r>
            <a:r>
              <a:rPr lang="en-US" sz="2800" dirty="0" err="1"/>
              <a:t>unos</a:t>
            </a:r>
            <a:r>
              <a:rPr lang="en-US" sz="2800" dirty="0"/>
              <a:t> </a:t>
            </a:r>
            <a:r>
              <a:rPr lang="en-US" sz="2800" dirty="0" err="1"/>
              <a:t>ocene</a:t>
            </a:r>
            <a:r>
              <a:rPr lang="en-US" sz="2800" dirty="0"/>
              <a:t> </a:t>
            </a:r>
            <a:r>
              <a:rPr lang="en-US" sz="2800" dirty="0" err="1"/>
              <a:t>za</a:t>
            </a:r>
            <a:r>
              <a:rPr lang="en-US" sz="2800" dirty="0"/>
              <a:t> </a:t>
            </a:r>
            <a:r>
              <a:rPr lang="en-US" sz="2800" dirty="0" err="1"/>
              <a:t>učenika</a:t>
            </a:r>
            <a:r>
              <a:rPr lang="en-US" sz="2800" dirty="0"/>
              <a:t> </a:t>
            </a:r>
            <a:r>
              <a:rPr lang="en-US" sz="2800" dirty="0" err="1"/>
              <a:t>koji</a:t>
            </a:r>
            <a:r>
              <a:rPr lang="en-US" sz="2800" dirty="0"/>
              <a:t> </a:t>
            </a:r>
            <a:r>
              <a:rPr lang="en-US" sz="2800" dirty="0" err="1"/>
              <a:t>uopšte</a:t>
            </a:r>
            <a:r>
              <a:rPr lang="en-US" sz="2800" dirty="0"/>
              <a:t> ne </a:t>
            </a:r>
            <a:r>
              <a:rPr lang="en-US" sz="2800" dirty="0" err="1"/>
              <a:t>postoji</a:t>
            </a:r>
            <a:r>
              <a:rPr lang="en-US" sz="2800" dirty="0"/>
              <a:t> u </a:t>
            </a:r>
            <a:r>
              <a:rPr lang="en-US" sz="2800" dirty="0" err="1"/>
              <a:t>bazi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Održava</a:t>
            </a:r>
            <a:r>
              <a:rPr lang="en-US" sz="2800" dirty="0" smtClean="0"/>
              <a:t> </a:t>
            </a:r>
            <a:r>
              <a:rPr lang="en-US" sz="2800" dirty="0" err="1"/>
              <a:t>tačnost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jedinstvenost</a:t>
            </a:r>
            <a:r>
              <a:rPr lang="en-US" sz="2800" dirty="0"/>
              <a:t> </a:t>
            </a:r>
            <a:r>
              <a:rPr lang="en-US" sz="2800" dirty="0" err="1"/>
              <a:t>cele</a:t>
            </a:r>
            <a:r>
              <a:rPr lang="en-US" sz="2800" dirty="0"/>
              <a:t> </a:t>
            </a:r>
            <a:r>
              <a:rPr lang="en-US" sz="2800" dirty="0" err="1"/>
              <a:t>strukture</a:t>
            </a:r>
            <a:r>
              <a:rPr lang="en-US" sz="2800" dirty="0"/>
              <a:t> </a:t>
            </a:r>
            <a:r>
              <a:rPr lang="en-US" sz="2800" dirty="0" err="1"/>
              <a:t>baze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9965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5951" y="624110"/>
            <a:ext cx="9618662" cy="1280890"/>
          </a:xfrm>
        </p:spPr>
        <p:txBody>
          <a:bodyPr>
            <a:normAutofit/>
          </a:bodyPr>
          <a:lstStyle/>
          <a:p>
            <a:r>
              <a:rPr lang="sr-Latn-RS" sz="4000" dirty="0" smtClean="0"/>
              <a:t>Zaključak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85951" y="2133600"/>
            <a:ext cx="9618661" cy="3777622"/>
          </a:xfrm>
        </p:spPr>
        <p:txBody>
          <a:bodyPr>
            <a:normAutofit/>
          </a:bodyPr>
          <a:lstStyle/>
          <a:p>
            <a:r>
              <a:rPr lang="en-US" sz="2800" dirty="0" err="1"/>
              <a:t>Baze</a:t>
            </a:r>
            <a:r>
              <a:rPr lang="en-US" sz="2800" dirty="0"/>
              <a:t> </a:t>
            </a:r>
            <a:r>
              <a:rPr lang="en-US" sz="2800" dirty="0" err="1"/>
              <a:t>podataka</a:t>
            </a:r>
            <a:r>
              <a:rPr lang="en-US" sz="2800" dirty="0"/>
              <a:t> </a:t>
            </a:r>
            <a:r>
              <a:rPr lang="en-US" sz="2800" dirty="0" err="1"/>
              <a:t>su</a:t>
            </a:r>
            <a:r>
              <a:rPr lang="en-US" sz="2800" dirty="0"/>
              <a:t> </a:t>
            </a:r>
            <a:r>
              <a:rPr lang="en-US" sz="2800" dirty="0" err="1"/>
              <a:t>temelj</a:t>
            </a:r>
            <a:r>
              <a:rPr lang="en-US" sz="2800" dirty="0"/>
              <a:t> </a:t>
            </a:r>
            <a:r>
              <a:rPr lang="en-US" sz="2800" dirty="0" err="1"/>
              <a:t>modernog</a:t>
            </a:r>
            <a:r>
              <a:rPr lang="en-US" sz="2800" dirty="0"/>
              <a:t> </a:t>
            </a:r>
            <a:r>
              <a:rPr lang="en-US" sz="2800" dirty="0" err="1"/>
              <a:t>digitalnog</a:t>
            </a:r>
            <a:r>
              <a:rPr lang="en-US" sz="2800" dirty="0"/>
              <a:t> </a:t>
            </a:r>
            <a:r>
              <a:rPr lang="en-US" sz="2800" dirty="0" err="1"/>
              <a:t>društva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Pravilno</a:t>
            </a:r>
            <a:r>
              <a:rPr lang="en-US" sz="2800" dirty="0" smtClean="0"/>
              <a:t> </a:t>
            </a:r>
            <a:r>
              <a:rPr lang="en-US" sz="2800" dirty="0" err="1"/>
              <a:t>planiranje</a:t>
            </a:r>
            <a:r>
              <a:rPr lang="en-US" sz="2800" dirty="0"/>
              <a:t> </a:t>
            </a:r>
            <a:r>
              <a:rPr lang="en-US" sz="2800" dirty="0" err="1"/>
              <a:t>i</a:t>
            </a:r>
            <a:r>
              <a:rPr lang="en-US" sz="2800" dirty="0"/>
              <a:t> </a:t>
            </a:r>
            <a:r>
              <a:rPr lang="en-US" sz="2800" dirty="0" err="1"/>
              <a:t>odabir</a:t>
            </a:r>
            <a:r>
              <a:rPr lang="en-US" sz="2800" dirty="0"/>
              <a:t> SUBP-a </a:t>
            </a:r>
            <a:r>
              <a:rPr lang="en-US" sz="2800" dirty="0" err="1"/>
              <a:t>su</a:t>
            </a:r>
            <a:r>
              <a:rPr lang="en-US" sz="2800" dirty="0"/>
              <a:t> </a:t>
            </a:r>
            <a:r>
              <a:rPr lang="en-US" sz="2800" dirty="0" err="1"/>
              <a:t>ključni</a:t>
            </a:r>
            <a:r>
              <a:rPr lang="en-US" sz="2800" dirty="0"/>
              <a:t> </a:t>
            </a:r>
            <a:r>
              <a:rPr lang="en-US" sz="2800" dirty="0" err="1"/>
              <a:t>za</a:t>
            </a:r>
            <a:r>
              <a:rPr lang="en-US" sz="2800" dirty="0"/>
              <a:t> </a:t>
            </a:r>
            <a:r>
              <a:rPr lang="en-US" sz="2800" dirty="0" err="1"/>
              <a:t>efikasnost</a:t>
            </a:r>
            <a:r>
              <a:rPr lang="en-US" sz="2800" dirty="0"/>
              <a:t> </a:t>
            </a:r>
            <a:r>
              <a:rPr lang="en-US" sz="2800" dirty="0" err="1"/>
              <a:t>sistema</a:t>
            </a:r>
            <a:r>
              <a:rPr lang="en-US" sz="2800" dirty="0" smtClean="0"/>
              <a:t>.</a:t>
            </a:r>
            <a:endParaRPr lang="sr-Latn-RS" sz="2800" dirty="0" smtClean="0"/>
          </a:p>
          <a:p>
            <a:r>
              <a:rPr lang="en-US" sz="2800" dirty="0" err="1" smtClean="0"/>
              <a:t>Omogućavaju</a:t>
            </a:r>
            <a:r>
              <a:rPr lang="en-US" sz="2800" dirty="0" smtClean="0"/>
              <a:t> </a:t>
            </a:r>
            <a:r>
              <a:rPr lang="en-US" sz="2800" dirty="0" err="1"/>
              <a:t>nam</a:t>
            </a:r>
            <a:r>
              <a:rPr lang="en-US" sz="2800" dirty="0"/>
              <a:t> da </a:t>
            </a:r>
            <a:r>
              <a:rPr lang="en-US" sz="2800" dirty="0" err="1"/>
              <a:t>upravljamo</a:t>
            </a:r>
            <a:r>
              <a:rPr lang="en-US" sz="2800" dirty="0"/>
              <a:t> </a:t>
            </a:r>
            <a:r>
              <a:rPr lang="en-US" sz="2800" dirty="0" err="1"/>
              <a:t>ogromnim</a:t>
            </a:r>
            <a:r>
              <a:rPr lang="en-US" sz="2800" dirty="0"/>
              <a:t> </a:t>
            </a:r>
            <a:r>
              <a:rPr lang="en-US" sz="2800" dirty="0" err="1"/>
              <a:t>količinama</a:t>
            </a:r>
            <a:r>
              <a:rPr lang="en-US" sz="2800" dirty="0"/>
              <a:t> </a:t>
            </a:r>
            <a:r>
              <a:rPr lang="en-US" sz="2800" dirty="0" err="1"/>
              <a:t>informacija</a:t>
            </a:r>
            <a:r>
              <a:rPr lang="en-US" sz="2800" dirty="0"/>
              <a:t> </a:t>
            </a:r>
            <a:r>
              <a:rPr lang="en-US" sz="2800" dirty="0" err="1"/>
              <a:t>uz</a:t>
            </a:r>
            <a:r>
              <a:rPr lang="en-US" sz="2800" dirty="0"/>
              <a:t> </a:t>
            </a:r>
            <a:r>
              <a:rPr lang="en-US" sz="2800" dirty="0" err="1"/>
              <a:t>minimalne</a:t>
            </a:r>
            <a:r>
              <a:rPr lang="en-US" sz="2800" dirty="0"/>
              <a:t> </a:t>
            </a:r>
            <a:r>
              <a:rPr lang="en-US" sz="2800" dirty="0" err="1"/>
              <a:t>greške</a:t>
            </a:r>
            <a:r>
              <a:rPr lang="en-US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2607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isp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54F6613E-5ED7-40ED-90A8-F639BE712C0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341</TotalTime>
  <Words>936</Words>
  <Application>Microsoft Office PowerPoint</Application>
  <PresentationFormat>Widescreen</PresentationFormat>
  <Paragraphs>115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Century Gothic</vt:lpstr>
      <vt:lpstr>Times New Roman</vt:lpstr>
      <vt:lpstr>Wingdings 3</vt:lpstr>
      <vt:lpstr>Wisp</vt:lpstr>
      <vt:lpstr>Baze podataka</vt:lpstr>
      <vt:lpstr>Pojam baze podataka</vt:lpstr>
      <vt:lpstr>Zašto su baze podataka važne?</vt:lpstr>
      <vt:lpstr>Primena baza podataka</vt:lpstr>
      <vt:lpstr>Sistemi za upravljanje bazama podataka (SUBP)</vt:lpstr>
      <vt:lpstr>Razlika između podataka i informacije</vt:lpstr>
      <vt:lpstr>Informacioni sistemi</vt:lpstr>
      <vt:lpstr>Veza baze podataka i informacionog sistema</vt:lpstr>
      <vt:lpstr>Relacioni model baza podataka</vt:lpstr>
      <vt:lpstr>Osnovni pojmovi relacionih baza</vt:lpstr>
      <vt:lpstr>Ključevi u bazama podataka</vt:lpstr>
      <vt:lpstr>Kreiranje baza podataka</vt:lpstr>
      <vt:lpstr>Planiranje baze podataka</vt:lpstr>
      <vt:lpstr>Korišćenje šablona</vt:lpstr>
      <vt:lpstr>Kreiranje tabela u Microsoft Access-u</vt:lpstr>
      <vt:lpstr>Tipovi podataka (Data Type):</vt:lpstr>
      <vt:lpstr>Unošenje podataka u tabelu</vt:lpstr>
      <vt:lpstr>Vrste veza između tabela</vt:lpstr>
      <vt:lpstr>Referencijalni integritet</vt:lpstr>
      <vt:lpstr>Zaključak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Baze podataka</dc:title>
  <dc:creator>JA</dc:creator>
  <cp:lastModifiedBy>JA</cp:lastModifiedBy>
  <cp:revision>12</cp:revision>
  <dcterms:created xsi:type="dcterms:W3CDTF">2026-03-11T07:53:02Z</dcterms:created>
  <dcterms:modified xsi:type="dcterms:W3CDTF">2026-03-25T07:51:44Z</dcterms:modified>
</cp:coreProperties>
</file>