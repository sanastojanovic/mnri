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36788" y="4310654"/>
            <a:ext cx="8915399" cy="933450"/>
          </a:xfrm>
        </p:spPr>
        <p:txBody>
          <a:bodyPr>
            <a:noAutofit/>
          </a:bodyPr>
          <a:lstStyle/>
          <a:p>
            <a:r>
              <a:rPr lang="sr-Latn-RS" sz="6000" dirty="0" smtClean="0"/>
              <a:t>Baze podataka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61113" y="5334000"/>
            <a:ext cx="2840037" cy="893512"/>
          </a:xfrm>
        </p:spPr>
        <p:txBody>
          <a:bodyPr/>
          <a:lstStyle/>
          <a:p>
            <a:r>
              <a:rPr lang="sr-Latn-RS" dirty="0" smtClean="0"/>
              <a:t>Tanja Šević 248/21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07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51" y="700310"/>
            <a:ext cx="9725562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2" y="1819275"/>
            <a:ext cx="9477374" cy="40919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Šta</a:t>
            </a:r>
            <a:r>
              <a:rPr lang="en-US" sz="2800" dirty="0"/>
              <a:t> je </a:t>
            </a:r>
            <a:r>
              <a:rPr lang="en-US" sz="2800" dirty="0" err="1"/>
              <a:t>baza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?</a:t>
            </a:r>
            <a:endParaRPr lang="sr-Latn-RS" sz="2800" dirty="0" smtClean="0"/>
          </a:p>
          <a:p>
            <a:r>
              <a:rPr lang="en-US" sz="2800" dirty="0" err="1"/>
              <a:t>Baza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je </a:t>
            </a:r>
            <a:r>
              <a:rPr lang="en-US" sz="2800" dirty="0" err="1"/>
              <a:t>organizovana</a:t>
            </a:r>
            <a:r>
              <a:rPr lang="en-US" sz="2800" dirty="0"/>
              <a:t> </a:t>
            </a:r>
            <a:r>
              <a:rPr lang="en-US" sz="2800" dirty="0" err="1"/>
              <a:t>kolekcija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</a:t>
            </a:r>
            <a:r>
              <a:rPr lang="en-US" sz="2800" dirty="0" err="1"/>
              <a:t>sačuvana</a:t>
            </a:r>
            <a:r>
              <a:rPr lang="en-US" sz="2800" dirty="0"/>
              <a:t> u </a:t>
            </a:r>
            <a:r>
              <a:rPr lang="en-US" sz="2800" dirty="0" err="1"/>
              <a:t>računaru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Strukturirani</a:t>
            </a:r>
            <a:r>
              <a:rPr lang="en-US" sz="2800" dirty="0" smtClean="0"/>
              <a:t> </a:t>
            </a:r>
            <a:r>
              <a:rPr lang="en-US" sz="2800" dirty="0" err="1"/>
              <a:t>skup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</a:t>
            </a:r>
            <a:r>
              <a:rPr lang="en-US" sz="2800" dirty="0" err="1"/>
              <a:t>kojim</a:t>
            </a:r>
            <a:r>
              <a:rPr lang="en-US" sz="2800" dirty="0"/>
              <a:t> </a:t>
            </a:r>
            <a:r>
              <a:rPr lang="en-US" sz="2800" dirty="0" err="1"/>
              <a:t>upravlja</a:t>
            </a:r>
            <a:r>
              <a:rPr lang="en-US" sz="2800" dirty="0"/>
              <a:t> </a:t>
            </a:r>
            <a:r>
              <a:rPr lang="en-US" sz="2800" dirty="0" err="1"/>
              <a:t>poseban</a:t>
            </a:r>
            <a:r>
              <a:rPr lang="en-US" sz="2800" dirty="0"/>
              <a:t> </a:t>
            </a:r>
            <a:r>
              <a:rPr lang="en-US" sz="2800" dirty="0" err="1"/>
              <a:t>softver</a:t>
            </a:r>
            <a:r>
              <a:rPr lang="en-US" sz="2800" dirty="0"/>
              <a:t> (SUBP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Omogućava</a:t>
            </a:r>
            <a:r>
              <a:rPr lang="en-US" sz="2800" dirty="0" smtClean="0"/>
              <a:t> </a:t>
            </a:r>
            <a:r>
              <a:rPr lang="en-US" sz="2800" dirty="0" err="1"/>
              <a:t>lako</a:t>
            </a:r>
            <a:r>
              <a:rPr lang="en-US" sz="2800" dirty="0"/>
              <a:t> </a:t>
            </a:r>
            <a:r>
              <a:rPr lang="en-US" sz="2800" dirty="0" err="1"/>
              <a:t>čuvanje</a:t>
            </a:r>
            <a:r>
              <a:rPr lang="en-US" sz="2800" dirty="0"/>
              <a:t>, </a:t>
            </a:r>
            <a:r>
              <a:rPr lang="en-US" sz="2800" dirty="0" err="1"/>
              <a:t>pretragu</a:t>
            </a:r>
            <a:r>
              <a:rPr lang="en-US" sz="2800" dirty="0"/>
              <a:t>, </a:t>
            </a:r>
            <a:r>
              <a:rPr lang="en-US" sz="2800" dirty="0" err="1"/>
              <a:t>izmenu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upravljanje</a:t>
            </a:r>
            <a:r>
              <a:rPr lang="en-US" sz="2800" dirty="0"/>
              <a:t> </a:t>
            </a:r>
            <a:r>
              <a:rPr lang="en-US" sz="2800" dirty="0" err="1"/>
              <a:t>informacijama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640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639" y="624110"/>
            <a:ext cx="972497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9639" y="1905000"/>
            <a:ext cx="9724973" cy="4006222"/>
          </a:xfrm>
        </p:spPr>
        <p:txBody>
          <a:bodyPr/>
          <a:lstStyle/>
          <a:p>
            <a:pPr marL="0" indent="0">
              <a:buNone/>
            </a:pPr>
            <a:r>
              <a:rPr lang="sr-Latn-RS" sz="2800" dirty="0" smtClean="0"/>
              <a:t>Zašto su baze podataka važne?</a:t>
            </a:r>
          </a:p>
          <a:p>
            <a:r>
              <a:rPr lang="en-US" sz="2800" dirty="0" err="1" smtClean="0"/>
              <a:t>Omogućavaju</a:t>
            </a:r>
            <a:r>
              <a:rPr lang="en-US" sz="2800" dirty="0" smtClean="0"/>
              <a:t> </a:t>
            </a:r>
            <a:r>
              <a:rPr lang="en-US" sz="2800" dirty="0" err="1"/>
              <a:t>brzu</a:t>
            </a:r>
            <a:r>
              <a:rPr lang="en-US" sz="2800" dirty="0"/>
              <a:t> </a:t>
            </a:r>
            <a:r>
              <a:rPr lang="en-US" sz="2800" dirty="0" err="1"/>
              <a:t>dostupnost</a:t>
            </a:r>
            <a:r>
              <a:rPr lang="en-US" sz="2800" dirty="0"/>
              <a:t> </a:t>
            </a:r>
            <a:r>
              <a:rPr lang="en-US" sz="2800" dirty="0" err="1"/>
              <a:t>velikih</a:t>
            </a:r>
            <a:r>
              <a:rPr lang="en-US" sz="2800" dirty="0"/>
              <a:t> </a:t>
            </a:r>
            <a:r>
              <a:rPr lang="en-US" sz="2800" dirty="0" err="1"/>
              <a:t>količina</a:t>
            </a:r>
            <a:r>
              <a:rPr lang="en-US" sz="2800" dirty="0"/>
              <a:t> </a:t>
            </a:r>
            <a:r>
              <a:rPr lang="en-US" sz="2800" dirty="0" err="1"/>
              <a:t>informacija</a:t>
            </a:r>
            <a:r>
              <a:rPr lang="en-US" sz="2800" dirty="0"/>
              <a:t> u </a:t>
            </a:r>
            <a:r>
              <a:rPr lang="en-US" sz="2800" dirty="0" err="1"/>
              <a:t>svakom</a:t>
            </a:r>
            <a:r>
              <a:rPr lang="en-US" sz="2800" dirty="0"/>
              <a:t> </a:t>
            </a:r>
            <a:r>
              <a:rPr lang="en-US" sz="2800" dirty="0" err="1"/>
              <a:t>trenutku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Primer</a:t>
            </a:r>
            <a:r>
              <a:rPr lang="en-US" sz="2800" dirty="0"/>
              <a:t>: Google </a:t>
            </a:r>
            <a:r>
              <a:rPr lang="en-US" sz="2800" dirty="0" err="1"/>
              <a:t>pretraga</a:t>
            </a:r>
            <a:r>
              <a:rPr lang="en-US" sz="2800" dirty="0"/>
              <a:t> </a:t>
            </a:r>
            <a:r>
              <a:rPr lang="en-US" sz="2800" dirty="0" err="1"/>
              <a:t>ili</a:t>
            </a:r>
            <a:r>
              <a:rPr lang="en-US" sz="2800" dirty="0"/>
              <a:t> </a:t>
            </a:r>
            <a:r>
              <a:rPr lang="en-US" sz="2800" dirty="0" err="1"/>
              <a:t>personalizovani</a:t>
            </a:r>
            <a:r>
              <a:rPr lang="en-US" sz="2800" dirty="0"/>
              <a:t> </a:t>
            </a:r>
            <a:r>
              <a:rPr lang="en-US" sz="2800" dirty="0" err="1"/>
              <a:t>predlozi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YouTube-u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Bez </a:t>
            </a:r>
            <a:r>
              <a:rPr lang="en-US" sz="2800" dirty="0" err="1"/>
              <a:t>baza</a:t>
            </a:r>
            <a:r>
              <a:rPr lang="en-US" sz="2800" dirty="0"/>
              <a:t>, </a:t>
            </a:r>
            <a:r>
              <a:rPr lang="en-US" sz="2800" dirty="0" err="1"/>
              <a:t>sistemi</a:t>
            </a:r>
            <a:r>
              <a:rPr lang="en-US" sz="2800" dirty="0"/>
              <a:t> ne bi </a:t>
            </a:r>
            <a:r>
              <a:rPr lang="en-US" sz="2800" dirty="0" err="1"/>
              <a:t>mogli</a:t>
            </a:r>
            <a:r>
              <a:rPr lang="en-US" sz="2800" dirty="0"/>
              <a:t> da "</a:t>
            </a:r>
            <a:r>
              <a:rPr lang="en-US" sz="2800" dirty="0" err="1"/>
              <a:t>pamte</a:t>
            </a:r>
            <a:r>
              <a:rPr lang="en-US" sz="2800" dirty="0"/>
              <a:t>" </a:t>
            </a:r>
            <a:r>
              <a:rPr lang="en-US" sz="2800" dirty="0" err="1"/>
              <a:t>naše</a:t>
            </a:r>
            <a:r>
              <a:rPr lang="en-US" sz="2800" dirty="0"/>
              <a:t> </a:t>
            </a:r>
            <a:r>
              <a:rPr lang="en-US" sz="2800" dirty="0" err="1"/>
              <a:t>izbore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podatk</a:t>
            </a:r>
            <a:r>
              <a:rPr lang="en-US" dirty="0" err="1"/>
              <a:t>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408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995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Primena</a:t>
            </a:r>
            <a:r>
              <a:rPr lang="en-US" sz="2800" dirty="0"/>
              <a:t> </a:t>
            </a:r>
            <a:r>
              <a:rPr lang="en-US" sz="2800" dirty="0" err="1"/>
              <a:t>baza</a:t>
            </a:r>
            <a:r>
              <a:rPr lang="en-US" sz="2800" dirty="0"/>
              <a:t> </a:t>
            </a:r>
            <a:r>
              <a:rPr lang="en-US" sz="2800" dirty="0" err="1" smtClean="0"/>
              <a:t>podataka</a:t>
            </a:r>
            <a:r>
              <a:rPr lang="sr-Latn-RS" sz="2800" dirty="0" smtClean="0"/>
              <a:t>:</a:t>
            </a:r>
          </a:p>
          <a:p>
            <a:r>
              <a:rPr lang="en-US" sz="2800" dirty="0" err="1" smtClean="0"/>
              <a:t>Škole</a:t>
            </a:r>
            <a:r>
              <a:rPr lang="en-US" sz="2800" dirty="0"/>
              <a:t>: </a:t>
            </a:r>
            <a:r>
              <a:rPr lang="en-US" sz="2800" dirty="0" err="1"/>
              <a:t>spiskovi</a:t>
            </a:r>
            <a:r>
              <a:rPr lang="en-US" sz="2800" dirty="0"/>
              <a:t> </a:t>
            </a:r>
            <a:r>
              <a:rPr lang="en-US" sz="2800" dirty="0" err="1"/>
              <a:t>učenika</a:t>
            </a:r>
            <a:r>
              <a:rPr lang="en-US" sz="2800" dirty="0"/>
              <a:t>, </a:t>
            </a:r>
            <a:r>
              <a:rPr lang="en-US" sz="2800" dirty="0" err="1"/>
              <a:t>ocene</a:t>
            </a:r>
            <a:r>
              <a:rPr lang="en-US" sz="2800" dirty="0"/>
              <a:t>, </a:t>
            </a:r>
            <a:r>
              <a:rPr lang="en-US" sz="2800" dirty="0" err="1"/>
              <a:t>izostanci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Prodavnice</a:t>
            </a:r>
            <a:r>
              <a:rPr lang="en-US" sz="2800" dirty="0"/>
              <a:t>: </a:t>
            </a:r>
            <a:r>
              <a:rPr lang="en-US" sz="2800" dirty="0" err="1"/>
              <a:t>spiskovi</a:t>
            </a:r>
            <a:r>
              <a:rPr lang="en-US" sz="2800" dirty="0"/>
              <a:t> </a:t>
            </a:r>
            <a:r>
              <a:rPr lang="en-US" sz="2800" dirty="0" err="1"/>
              <a:t>proizvoda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cene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Bolnice</a:t>
            </a:r>
            <a:r>
              <a:rPr lang="en-US" sz="2800" dirty="0"/>
              <a:t>: </a:t>
            </a:r>
            <a:r>
              <a:rPr lang="en-US" sz="2800" dirty="0" err="1"/>
              <a:t>kartoni</a:t>
            </a:r>
            <a:r>
              <a:rPr lang="en-US" sz="2800" dirty="0"/>
              <a:t> </a:t>
            </a:r>
            <a:r>
              <a:rPr lang="en-US" sz="2800" dirty="0" err="1"/>
              <a:t>pacijenata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termini </a:t>
            </a:r>
            <a:r>
              <a:rPr lang="en-US" sz="2800" dirty="0" err="1"/>
              <a:t>pregleda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Internet</a:t>
            </a:r>
            <a:r>
              <a:rPr lang="en-US" sz="2800" dirty="0"/>
              <a:t>: </a:t>
            </a:r>
            <a:r>
              <a:rPr lang="en-US" sz="2800" dirty="0" err="1"/>
              <a:t>društvene</a:t>
            </a:r>
            <a:r>
              <a:rPr lang="en-US" sz="2800" dirty="0"/>
              <a:t> </a:t>
            </a:r>
            <a:r>
              <a:rPr lang="en-US" sz="2800" dirty="0" err="1"/>
              <a:t>mreže</a:t>
            </a:r>
            <a:r>
              <a:rPr lang="en-US" sz="2800" dirty="0"/>
              <a:t>, </a:t>
            </a:r>
            <a:r>
              <a:rPr lang="en-US" sz="2800" dirty="0" err="1"/>
              <a:t>onlajn</a:t>
            </a:r>
            <a:r>
              <a:rPr lang="en-US" sz="2800" dirty="0"/>
              <a:t> </a:t>
            </a:r>
            <a:r>
              <a:rPr lang="en-US" sz="2800" dirty="0" err="1"/>
              <a:t>prodavnice</a:t>
            </a:r>
            <a:r>
              <a:rPr lang="en-US" sz="2800" dirty="0"/>
              <a:t>, </a:t>
            </a:r>
            <a:r>
              <a:rPr lang="en-US" sz="2800" dirty="0" err="1"/>
              <a:t>striming</a:t>
            </a:r>
            <a:r>
              <a:rPr lang="en-US" sz="2800" dirty="0"/>
              <a:t> </a:t>
            </a:r>
            <a:r>
              <a:rPr lang="en-US" sz="2800" dirty="0" err="1"/>
              <a:t>servisi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836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8" y="1704974"/>
            <a:ext cx="9828571" cy="4810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dirty="0" smtClean="0"/>
              <a:t>Sistemi </a:t>
            </a:r>
            <a:r>
              <a:rPr lang="pl-PL" sz="2800" dirty="0"/>
              <a:t>za upravljanje bazama podataka (SUBP</a:t>
            </a:r>
            <a:r>
              <a:rPr lang="pl-PL" sz="2800" dirty="0" smtClean="0"/>
              <a:t>):</a:t>
            </a:r>
          </a:p>
          <a:p>
            <a:r>
              <a:rPr lang="en-US" sz="2800" dirty="0"/>
              <a:t>SQLite: </a:t>
            </a:r>
            <a:r>
              <a:rPr lang="en-US" sz="2800" dirty="0" err="1"/>
              <a:t>najkorišćeniji</a:t>
            </a:r>
            <a:r>
              <a:rPr lang="en-US" sz="2800" dirty="0"/>
              <a:t>, </a:t>
            </a:r>
            <a:r>
              <a:rPr lang="en-US" sz="2800" dirty="0" err="1"/>
              <a:t>ugrađen</a:t>
            </a:r>
            <a:r>
              <a:rPr lang="en-US" sz="2800" dirty="0"/>
              <a:t> u </a:t>
            </a:r>
            <a:r>
              <a:rPr lang="en-US" sz="2800" dirty="0" err="1"/>
              <a:t>mobilne</a:t>
            </a:r>
            <a:r>
              <a:rPr lang="en-US" sz="2800" dirty="0"/>
              <a:t> </a:t>
            </a:r>
            <a:r>
              <a:rPr lang="en-US" sz="2800" dirty="0" err="1"/>
              <a:t>aplikacije</a:t>
            </a:r>
            <a:r>
              <a:rPr lang="en-US" sz="2800" dirty="0"/>
              <a:t>, </a:t>
            </a:r>
            <a:r>
              <a:rPr lang="en-US" sz="2800" dirty="0" err="1"/>
              <a:t>čuva</a:t>
            </a:r>
            <a:r>
              <a:rPr lang="en-US" sz="2800" dirty="0"/>
              <a:t> </a:t>
            </a:r>
            <a:r>
              <a:rPr lang="en-US" sz="2800" dirty="0" err="1"/>
              <a:t>bazu</a:t>
            </a:r>
            <a:r>
              <a:rPr lang="en-US" sz="2800" dirty="0"/>
              <a:t> u </a:t>
            </a:r>
            <a:r>
              <a:rPr lang="en-US" sz="2800" dirty="0" err="1"/>
              <a:t>jednom</a:t>
            </a:r>
            <a:r>
              <a:rPr lang="en-US" sz="2800" dirty="0"/>
              <a:t> </a:t>
            </a:r>
            <a:r>
              <a:rPr lang="en-US" sz="2800" dirty="0" err="1"/>
              <a:t>fajlu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MySQL</a:t>
            </a:r>
            <a:r>
              <a:rPr lang="en-US" sz="2800" dirty="0"/>
              <a:t>: </a:t>
            </a:r>
            <a:r>
              <a:rPr lang="en-US" sz="2800" dirty="0" err="1"/>
              <a:t>brz</a:t>
            </a:r>
            <a:r>
              <a:rPr lang="en-US" sz="2800" dirty="0"/>
              <a:t>, </a:t>
            </a:r>
            <a:r>
              <a:rPr lang="en-US" sz="2800" dirty="0" err="1"/>
              <a:t>pouzdan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besplatan</a:t>
            </a:r>
            <a:r>
              <a:rPr lang="en-US" sz="2800" dirty="0"/>
              <a:t>; </a:t>
            </a:r>
            <a:r>
              <a:rPr lang="en-US" sz="2800" dirty="0" err="1"/>
              <a:t>koriste</a:t>
            </a:r>
            <a:r>
              <a:rPr lang="en-US" sz="2800" dirty="0"/>
              <a:t> </a:t>
            </a:r>
            <a:r>
              <a:rPr lang="en-US" sz="2800" dirty="0" err="1"/>
              <a:t>ga</a:t>
            </a:r>
            <a:r>
              <a:rPr lang="en-US" sz="2800" dirty="0"/>
              <a:t> Facebook </a:t>
            </a:r>
            <a:r>
              <a:rPr lang="en-US" sz="2800" dirty="0" err="1"/>
              <a:t>i</a:t>
            </a:r>
            <a:r>
              <a:rPr lang="en-US" sz="2800" dirty="0"/>
              <a:t> YouTube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Oracle </a:t>
            </a:r>
            <a:r>
              <a:rPr lang="en-US" sz="2800" dirty="0"/>
              <a:t>Database: </a:t>
            </a:r>
            <a:r>
              <a:rPr lang="en-US" sz="2800" dirty="0" err="1"/>
              <a:t>moćan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skup</a:t>
            </a:r>
            <a:r>
              <a:rPr lang="en-US" sz="2800" dirty="0"/>
              <a:t>; </a:t>
            </a:r>
            <a:r>
              <a:rPr lang="en-US" sz="2800" dirty="0" err="1"/>
              <a:t>koriste</a:t>
            </a:r>
            <a:r>
              <a:rPr lang="en-US" sz="2800" dirty="0"/>
              <a:t> </a:t>
            </a:r>
            <a:r>
              <a:rPr lang="en-US" sz="2800" dirty="0" err="1"/>
              <a:t>ga</a:t>
            </a:r>
            <a:r>
              <a:rPr lang="en-US" sz="2800" dirty="0"/>
              <a:t> </a:t>
            </a:r>
            <a:r>
              <a:rPr lang="en-US" sz="2800" dirty="0" err="1"/>
              <a:t>banke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vojska</a:t>
            </a:r>
            <a:r>
              <a:rPr lang="en-US" sz="2800" dirty="0"/>
              <a:t> </a:t>
            </a:r>
            <a:r>
              <a:rPr lang="en-US" sz="2800" dirty="0" err="1"/>
              <a:t>zbog</a:t>
            </a:r>
            <a:r>
              <a:rPr lang="en-US" sz="2800" dirty="0"/>
              <a:t> </a:t>
            </a:r>
            <a:r>
              <a:rPr lang="en-US" sz="2800" dirty="0" err="1"/>
              <a:t>sigurnosti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Microsoft </a:t>
            </a:r>
            <a:r>
              <a:rPr lang="en-US" sz="2800" dirty="0"/>
              <a:t>SQL Server: </a:t>
            </a:r>
            <a:r>
              <a:rPr lang="en-US" sz="2800" dirty="0" err="1"/>
              <a:t>odlično</a:t>
            </a:r>
            <a:r>
              <a:rPr lang="en-US" sz="2800" dirty="0"/>
              <a:t> </a:t>
            </a:r>
            <a:r>
              <a:rPr lang="en-US" sz="2800" dirty="0" err="1"/>
              <a:t>sarađuje</a:t>
            </a:r>
            <a:r>
              <a:rPr lang="en-US" sz="2800" dirty="0"/>
              <a:t> </a:t>
            </a:r>
            <a:r>
              <a:rPr lang="en-US" sz="2800" dirty="0" err="1"/>
              <a:t>sa</a:t>
            </a:r>
            <a:r>
              <a:rPr lang="en-US" sz="2800" dirty="0"/>
              <a:t> Windows </a:t>
            </a:r>
            <a:r>
              <a:rPr lang="en-US" sz="2800" dirty="0" err="1"/>
              <a:t>i</a:t>
            </a:r>
            <a:r>
              <a:rPr lang="en-US" sz="2800" dirty="0"/>
              <a:t> Excel </a:t>
            </a:r>
            <a:r>
              <a:rPr lang="en-US" sz="2800" dirty="0" err="1"/>
              <a:t>programima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725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8" y="1904999"/>
            <a:ext cx="9047521" cy="4143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dirty="0"/>
              <a:t>Razlika između podataka i </a:t>
            </a:r>
            <a:r>
              <a:rPr lang="pl-PL" sz="2800" dirty="0" smtClean="0"/>
              <a:t>informacije</a:t>
            </a:r>
          </a:p>
          <a:p>
            <a:r>
              <a:rPr lang="en-US" sz="2800" dirty="0" err="1"/>
              <a:t>Podatak</a:t>
            </a:r>
            <a:r>
              <a:rPr lang="en-US" sz="2800" dirty="0"/>
              <a:t>: </a:t>
            </a:r>
            <a:r>
              <a:rPr lang="en-US" sz="2800" dirty="0" err="1"/>
              <a:t>Reč</a:t>
            </a:r>
            <a:r>
              <a:rPr lang="en-US" sz="2800" dirty="0"/>
              <a:t>, </a:t>
            </a:r>
            <a:r>
              <a:rPr lang="en-US" sz="2800" dirty="0" err="1"/>
              <a:t>broj</a:t>
            </a:r>
            <a:r>
              <a:rPr lang="en-US" sz="2800" dirty="0"/>
              <a:t> </a:t>
            </a:r>
            <a:r>
              <a:rPr lang="en-US" sz="2800" dirty="0" err="1"/>
              <a:t>ili</a:t>
            </a:r>
            <a:r>
              <a:rPr lang="en-US" sz="2800" dirty="0"/>
              <a:t> </a:t>
            </a:r>
            <a:r>
              <a:rPr lang="en-US" sz="2800" dirty="0" err="1"/>
              <a:t>simbol</a:t>
            </a:r>
            <a:r>
              <a:rPr lang="en-US" sz="2800" dirty="0"/>
              <a:t> bez </a:t>
            </a:r>
            <a:r>
              <a:rPr lang="en-US" sz="2800" dirty="0" err="1"/>
              <a:t>posebnog</a:t>
            </a:r>
            <a:r>
              <a:rPr lang="en-US" sz="2800" dirty="0"/>
              <a:t> </a:t>
            </a:r>
            <a:r>
              <a:rPr lang="en-US" sz="2800" dirty="0" err="1"/>
              <a:t>značenja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"38</a:t>
            </a:r>
            <a:r>
              <a:rPr lang="en-US" sz="2800" dirty="0" smtClean="0"/>
              <a:t>").</a:t>
            </a:r>
            <a:endParaRPr lang="sr-Latn-RS" sz="2800" dirty="0" smtClean="0"/>
          </a:p>
          <a:p>
            <a:r>
              <a:rPr lang="en-US" sz="2800" dirty="0" err="1" smtClean="0"/>
              <a:t>Informacija</a:t>
            </a:r>
            <a:r>
              <a:rPr lang="en-US" sz="2800" dirty="0"/>
              <a:t>: </a:t>
            </a:r>
            <a:r>
              <a:rPr lang="en-US" sz="2800" dirty="0" err="1"/>
              <a:t>Obrađen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smislen</a:t>
            </a:r>
            <a:r>
              <a:rPr lang="en-US" sz="2800" dirty="0"/>
              <a:t> </a:t>
            </a:r>
            <a:r>
              <a:rPr lang="en-US" sz="2800" dirty="0" err="1"/>
              <a:t>podatak</a:t>
            </a:r>
            <a:r>
              <a:rPr lang="en-US" sz="2800" dirty="0"/>
              <a:t> </a:t>
            </a:r>
            <a:r>
              <a:rPr lang="en-US" sz="2800" dirty="0" err="1"/>
              <a:t>koji</a:t>
            </a:r>
            <a:r>
              <a:rPr lang="en-US" sz="2800" dirty="0"/>
              <a:t> </a:t>
            </a:r>
            <a:r>
              <a:rPr lang="en-US" sz="2800" dirty="0" err="1"/>
              <a:t>pomaže</a:t>
            </a:r>
            <a:r>
              <a:rPr lang="en-US" sz="2800" dirty="0"/>
              <a:t> u </a:t>
            </a:r>
            <a:r>
              <a:rPr lang="en-US" sz="2800" dirty="0" err="1"/>
              <a:t>donošenju</a:t>
            </a:r>
            <a:r>
              <a:rPr lang="en-US" sz="2800" dirty="0"/>
              <a:t> </a:t>
            </a:r>
            <a:r>
              <a:rPr lang="en-US" sz="2800" dirty="0" err="1"/>
              <a:t>odluka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Primer</a:t>
            </a:r>
            <a:r>
              <a:rPr lang="en-US" sz="2800" dirty="0"/>
              <a:t>: "38 </a:t>
            </a:r>
            <a:r>
              <a:rPr lang="en-US" sz="2800" dirty="0" err="1"/>
              <a:t>stepeni</a:t>
            </a:r>
            <a:r>
              <a:rPr lang="en-US" sz="2800" dirty="0"/>
              <a:t> u </a:t>
            </a:r>
            <a:r>
              <a:rPr lang="en-US" sz="2800" dirty="0" err="1"/>
              <a:t>Beogradu</a:t>
            </a:r>
            <a:r>
              <a:rPr lang="en-US" sz="2800" dirty="0"/>
              <a:t>" je </a:t>
            </a:r>
            <a:r>
              <a:rPr lang="en-US" sz="2800" dirty="0" err="1"/>
              <a:t>informacija</a:t>
            </a:r>
            <a:r>
              <a:rPr lang="en-US" sz="2800" dirty="0"/>
              <a:t> </a:t>
            </a:r>
            <a:r>
              <a:rPr lang="en-US" sz="2800" dirty="0" err="1"/>
              <a:t>nastala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sirovih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992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05001"/>
            <a:ext cx="8915400" cy="4086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Informacioni</a:t>
            </a:r>
            <a:r>
              <a:rPr lang="en-US" sz="2800" dirty="0"/>
              <a:t> </a:t>
            </a:r>
            <a:r>
              <a:rPr lang="en-US" sz="2800" dirty="0" err="1" smtClean="0"/>
              <a:t>sistemi</a:t>
            </a:r>
            <a:r>
              <a:rPr lang="sr-Latn-RS" sz="2800" dirty="0" smtClean="0"/>
              <a:t>:</a:t>
            </a:r>
          </a:p>
          <a:p>
            <a:r>
              <a:rPr lang="en-US" sz="2800" dirty="0" err="1"/>
              <a:t>Sistem</a:t>
            </a:r>
            <a:r>
              <a:rPr lang="en-US" sz="2800" dirty="0"/>
              <a:t> u </a:t>
            </a:r>
            <a:r>
              <a:rPr lang="en-US" sz="2800" dirty="0" err="1"/>
              <a:t>kom</a:t>
            </a:r>
            <a:r>
              <a:rPr lang="en-US" sz="2800" dirty="0"/>
              <a:t> </a:t>
            </a:r>
            <a:r>
              <a:rPr lang="en-US" sz="2800" dirty="0" err="1"/>
              <a:t>ljudi</a:t>
            </a:r>
            <a:r>
              <a:rPr lang="en-US" sz="2800" dirty="0"/>
              <a:t>, </a:t>
            </a:r>
            <a:r>
              <a:rPr lang="en-US" sz="2800" dirty="0" err="1"/>
              <a:t>po</a:t>
            </a:r>
            <a:r>
              <a:rPr lang="en-US" sz="2800" dirty="0"/>
              <a:t> </a:t>
            </a:r>
            <a:r>
              <a:rPr lang="en-US" sz="2800" dirty="0" err="1"/>
              <a:t>određenim</a:t>
            </a:r>
            <a:r>
              <a:rPr lang="en-US" sz="2800" dirty="0"/>
              <a:t> </a:t>
            </a:r>
            <a:r>
              <a:rPr lang="en-US" sz="2800" dirty="0" err="1"/>
              <a:t>pravilima</a:t>
            </a:r>
            <a:r>
              <a:rPr lang="en-US" sz="2800" dirty="0"/>
              <a:t>, </a:t>
            </a:r>
            <a:r>
              <a:rPr lang="en-US" sz="2800" dirty="0" err="1"/>
              <a:t>pretvaraju</a:t>
            </a:r>
            <a:r>
              <a:rPr lang="en-US" sz="2800" dirty="0"/>
              <a:t> </a:t>
            </a:r>
            <a:r>
              <a:rPr lang="en-US" sz="2800" dirty="0" err="1"/>
              <a:t>podatke</a:t>
            </a:r>
            <a:r>
              <a:rPr lang="en-US" sz="2800" dirty="0"/>
              <a:t> u </a:t>
            </a:r>
            <a:r>
              <a:rPr lang="en-US" sz="2800" dirty="0" err="1"/>
              <a:t>informacije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Četiri</a:t>
            </a:r>
            <a:r>
              <a:rPr lang="en-US" sz="2800" dirty="0" smtClean="0"/>
              <a:t> </a:t>
            </a:r>
            <a:r>
              <a:rPr lang="en-US" sz="2800" dirty="0" err="1"/>
              <a:t>koraka</a:t>
            </a:r>
            <a:r>
              <a:rPr lang="en-US" sz="2800" dirty="0"/>
              <a:t>: </a:t>
            </a:r>
            <a:r>
              <a:rPr lang="en-US" sz="2800" dirty="0" err="1"/>
              <a:t>prikupljanje</a:t>
            </a:r>
            <a:r>
              <a:rPr lang="en-US" sz="2800" dirty="0"/>
              <a:t>, </a:t>
            </a:r>
            <a:r>
              <a:rPr lang="en-US" sz="2800" dirty="0" err="1"/>
              <a:t>čuvanje</a:t>
            </a:r>
            <a:r>
              <a:rPr lang="en-US" sz="2800" dirty="0"/>
              <a:t>, </a:t>
            </a:r>
            <a:r>
              <a:rPr lang="en-US" sz="2800" dirty="0" err="1"/>
              <a:t>obrada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prikazivanje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Glavni</a:t>
            </a:r>
            <a:r>
              <a:rPr lang="en-US" sz="2800" dirty="0" smtClean="0"/>
              <a:t> </a:t>
            </a:r>
            <a:r>
              <a:rPr lang="en-US" sz="2800" dirty="0" err="1"/>
              <a:t>cilj</a:t>
            </a:r>
            <a:r>
              <a:rPr lang="en-US" sz="2800" dirty="0"/>
              <a:t> je </a:t>
            </a:r>
            <a:r>
              <a:rPr lang="en-US" sz="2800" dirty="0" err="1"/>
              <a:t>ušteda</a:t>
            </a:r>
            <a:r>
              <a:rPr lang="en-US" sz="2800" dirty="0"/>
              <a:t> </a:t>
            </a:r>
            <a:r>
              <a:rPr lang="en-US" sz="2800" dirty="0" err="1"/>
              <a:t>vremena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smanjenje</a:t>
            </a:r>
            <a:r>
              <a:rPr lang="en-US" sz="2800" dirty="0"/>
              <a:t> </a:t>
            </a:r>
            <a:r>
              <a:rPr lang="en-US" sz="2800" dirty="0" err="1"/>
              <a:t>grešaka</a:t>
            </a:r>
            <a:r>
              <a:rPr lang="en-US" sz="2800" dirty="0"/>
              <a:t> u </a:t>
            </a:r>
            <a:r>
              <a:rPr lang="en-US" sz="2800" dirty="0" err="1"/>
              <a:t>radu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426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4243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800" dirty="0"/>
              <a:t>Veza baze podataka i informacionog </a:t>
            </a:r>
            <a:r>
              <a:rPr lang="pl-PL" sz="2800" dirty="0" smtClean="0"/>
              <a:t>sistema:</a:t>
            </a:r>
          </a:p>
          <a:p>
            <a:r>
              <a:rPr lang="en-US" sz="2800" dirty="0" err="1"/>
              <a:t>Baza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je </a:t>
            </a:r>
            <a:r>
              <a:rPr lang="en-US" sz="2800" dirty="0" err="1"/>
              <a:t>poput</a:t>
            </a:r>
            <a:r>
              <a:rPr lang="en-US" sz="2800" dirty="0"/>
              <a:t> </a:t>
            </a:r>
            <a:r>
              <a:rPr lang="en-US" sz="2800" dirty="0" err="1"/>
              <a:t>frižidera</a:t>
            </a:r>
            <a:r>
              <a:rPr lang="en-US" sz="2800" dirty="0"/>
              <a:t> (</a:t>
            </a:r>
            <a:r>
              <a:rPr lang="en-US" sz="2800" dirty="0" err="1"/>
              <a:t>mesto</a:t>
            </a:r>
            <a:r>
              <a:rPr lang="en-US" sz="2800" dirty="0"/>
              <a:t> </a:t>
            </a:r>
            <a:r>
              <a:rPr lang="en-US" sz="2800" dirty="0" err="1"/>
              <a:t>gde</a:t>
            </a:r>
            <a:r>
              <a:rPr lang="en-US" sz="2800" dirty="0"/>
              <a:t> se </a:t>
            </a:r>
            <a:r>
              <a:rPr lang="en-US" sz="2800" dirty="0" err="1"/>
              <a:t>čuvaju</a:t>
            </a:r>
            <a:r>
              <a:rPr lang="en-US" sz="2800" dirty="0"/>
              <a:t> </a:t>
            </a:r>
            <a:r>
              <a:rPr lang="en-US" sz="2800" dirty="0" err="1"/>
              <a:t>namirnice</a:t>
            </a:r>
            <a:r>
              <a:rPr lang="en-US" sz="2800" dirty="0"/>
              <a:t>/</a:t>
            </a:r>
            <a:r>
              <a:rPr lang="en-US" sz="2800" dirty="0" err="1"/>
              <a:t>podaci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Informacioni</a:t>
            </a:r>
            <a:r>
              <a:rPr lang="en-US" sz="2800" dirty="0" smtClean="0"/>
              <a:t> </a:t>
            </a:r>
            <a:r>
              <a:rPr lang="en-US" sz="2800" dirty="0" err="1"/>
              <a:t>sistem</a:t>
            </a:r>
            <a:r>
              <a:rPr lang="en-US" sz="2800" dirty="0"/>
              <a:t> je </a:t>
            </a:r>
            <a:r>
              <a:rPr lang="en-US" sz="2800" dirty="0" err="1"/>
              <a:t>poput</a:t>
            </a:r>
            <a:r>
              <a:rPr lang="en-US" sz="2800" dirty="0"/>
              <a:t> </a:t>
            </a:r>
            <a:r>
              <a:rPr lang="en-US" sz="2800" dirty="0" err="1"/>
              <a:t>kuvara</a:t>
            </a:r>
            <a:r>
              <a:rPr lang="en-US" sz="2800" dirty="0"/>
              <a:t> (</a:t>
            </a:r>
            <a:r>
              <a:rPr lang="en-US" sz="2800" dirty="0" err="1"/>
              <a:t>koristi</a:t>
            </a:r>
            <a:r>
              <a:rPr lang="en-US" sz="2800" dirty="0"/>
              <a:t> </a:t>
            </a:r>
            <a:r>
              <a:rPr lang="en-US" sz="2800" dirty="0" err="1"/>
              <a:t>namirnice</a:t>
            </a:r>
            <a:r>
              <a:rPr lang="en-US" sz="2800" dirty="0"/>
              <a:t> da </a:t>
            </a:r>
            <a:r>
              <a:rPr lang="en-US" sz="2800" dirty="0" err="1"/>
              <a:t>napravi</a:t>
            </a:r>
            <a:r>
              <a:rPr lang="en-US" sz="2800" dirty="0"/>
              <a:t> </a:t>
            </a:r>
            <a:r>
              <a:rPr lang="en-US" sz="2800" dirty="0" err="1"/>
              <a:t>jelo</a:t>
            </a:r>
            <a:r>
              <a:rPr lang="en-US" sz="2800" dirty="0"/>
              <a:t>/</a:t>
            </a:r>
            <a:r>
              <a:rPr lang="en-US" sz="2800" dirty="0" err="1"/>
              <a:t>informaciju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smtClean="0"/>
              <a:t>Bez </a:t>
            </a:r>
            <a:r>
              <a:rPr lang="en-US" sz="2800" dirty="0" err="1"/>
              <a:t>baze</a:t>
            </a:r>
            <a:r>
              <a:rPr lang="en-US" sz="2800" dirty="0"/>
              <a:t>, </a:t>
            </a: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nema</a:t>
            </a:r>
            <a:r>
              <a:rPr lang="en-US" sz="2800" dirty="0"/>
              <a:t> </a:t>
            </a:r>
            <a:r>
              <a:rPr lang="en-US" sz="2800" dirty="0" err="1"/>
              <a:t>gde</a:t>
            </a:r>
            <a:r>
              <a:rPr lang="en-US" sz="2800" dirty="0"/>
              <a:t> da </a:t>
            </a:r>
            <a:r>
              <a:rPr lang="en-US" sz="2800" dirty="0" err="1"/>
              <a:t>čuva</a:t>
            </a:r>
            <a:r>
              <a:rPr lang="en-US" sz="2800" dirty="0"/>
              <a:t> </a:t>
            </a:r>
            <a:r>
              <a:rPr lang="en-US" sz="2800" dirty="0" err="1"/>
              <a:t>podatke</a:t>
            </a:r>
            <a:r>
              <a:rPr lang="en-US" sz="2800" dirty="0"/>
              <a:t>; bez </a:t>
            </a:r>
            <a:r>
              <a:rPr lang="en-US" sz="2800" dirty="0" err="1"/>
              <a:t>sistema</a:t>
            </a:r>
            <a:r>
              <a:rPr lang="en-US" sz="2800" dirty="0"/>
              <a:t>, </a:t>
            </a:r>
            <a:r>
              <a:rPr lang="en-US" sz="2800" dirty="0" err="1"/>
              <a:t>baza</a:t>
            </a:r>
            <a:r>
              <a:rPr lang="en-US" sz="2800" dirty="0"/>
              <a:t> je </a:t>
            </a:r>
            <a:r>
              <a:rPr lang="en-US" sz="2800" dirty="0" err="1"/>
              <a:t>samo</a:t>
            </a:r>
            <a:r>
              <a:rPr lang="en-US" sz="2800" dirty="0"/>
              <a:t> </a:t>
            </a:r>
            <a:r>
              <a:rPr lang="en-US" sz="2800" dirty="0" err="1"/>
              <a:t>gomila</a:t>
            </a:r>
            <a:r>
              <a:rPr lang="en-US" sz="2800" dirty="0"/>
              <a:t> </a:t>
            </a:r>
            <a:r>
              <a:rPr lang="en-US" sz="2800" dirty="0" err="1"/>
              <a:t>brojeva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771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Relacioni</a:t>
            </a:r>
            <a:r>
              <a:rPr lang="en-US" sz="2800" dirty="0"/>
              <a:t> model </a:t>
            </a:r>
            <a:r>
              <a:rPr lang="en-US" sz="2800" dirty="0" err="1"/>
              <a:t>baza</a:t>
            </a:r>
            <a:r>
              <a:rPr lang="en-US" sz="2800" dirty="0"/>
              <a:t> </a:t>
            </a:r>
            <a:r>
              <a:rPr lang="en-US" sz="2800" dirty="0" err="1" smtClean="0"/>
              <a:t>podataka</a:t>
            </a:r>
            <a:r>
              <a:rPr lang="sr-Latn-RS" sz="2800" dirty="0" smtClean="0"/>
              <a:t>:</a:t>
            </a:r>
          </a:p>
          <a:p>
            <a:r>
              <a:rPr lang="en-US" sz="2800" dirty="0" err="1" smtClean="0"/>
              <a:t>Najzastupljeniji</a:t>
            </a:r>
            <a:r>
              <a:rPr lang="en-US" sz="2800" dirty="0" smtClean="0"/>
              <a:t> </a:t>
            </a:r>
            <a:r>
              <a:rPr lang="en-US" sz="2800" dirty="0"/>
              <a:t>model </a:t>
            </a:r>
            <a:r>
              <a:rPr lang="en-US" sz="2800" dirty="0" err="1"/>
              <a:t>gde</a:t>
            </a:r>
            <a:r>
              <a:rPr lang="en-US" sz="2800" dirty="0"/>
              <a:t> se </a:t>
            </a:r>
            <a:r>
              <a:rPr lang="en-US" sz="2800" dirty="0" err="1"/>
              <a:t>podaci</a:t>
            </a:r>
            <a:r>
              <a:rPr lang="en-US" sz="2800" dirty="0"/>
              <a:t> </a:t>
            </a:r>
            <a:r>
              <a:rPr lang="en-US" sz="2800" dirty="0" err="1"/>
              <a:t>čuvaju</a:t>
            </a:r>
            <a:r>
              <a:rPr lang="en-US" sz="2800" dirty="0"/>
              <a:t> u </a:t>
            </a:r>
            <a:r>
              <a:rPr lang="en-US" sz="2800" dirty="0" err="1"/>
              <a:t>tabelama</a:t>
            </a:r>
            <a:r>
              <a:rPr lang="en-US" sz="2800" dirty="0"/>
              <a:t> (</a:t>
            </a:r>
            <a:r>
              <a:rPr lang="en-US" sz="2800" dirty="0" err="1"/>
              <a:t>relacijama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Svaki</a:t>
            </a:r>
            <a:r>
              <a:rPr lang="en-US" sz="2800" dirty="0" smtClean="0"/>
              <a:t> </a:t>
            </a:r>
            <a:r>
              <a:rPr lang="en-US" sz="2800" dirty="0"/>
              <a:t>red u </a:t>
            </a:r>
            <a:r>
              <a:rPr lang="en-US" sz="2800" dirty="0" err="1"/>
              <a:t>tabeli</a:t>
            </a:r>
            <a:r>
              <a:rPr lang="en-US" sz="2800" dirty="0"/>
              <a:t> je </a:t>
            </a:r>
            <a:r>
              <a:rPr lang="en-US" sz="2800" dirty="0" err="1"/>
              <a:t>jedan</a:t>
            </a:r>
            <a:r>
              <a:rPr lang="en-US" sz="2800" dirty="0"/>
              <a:t> </a:t>
            </a:r>
            <a:r>
              <a:rPr lang="en-US" sz="2800" dirty="0" err="1"/>
              <a:t>zapis</a:t>
            </a:r>
            <a:r>
              <a:rPr lang="en-US" sz="2800" dirty="0"/>
              <a:t>, a </a:t>
            </a:r>
            <a:r>
              <a:rPr lang="en-US" sz="2800" dirty="0" err="1"/>
              <a:t>svaka</a:t>
            </a:r>
            <a:r>
              <a:rPr lang="en-US" sz="2800" dirty="0"/>
              <a:t> </a:t>
            </a:r>
            <a:r>
              <a:rPr lang="en-US" sz="2800" dirty="0" err="1"/>
              <a:t>kolona</a:t>
            </a:r>
            <a:r>
              <a:rPr lang="en-US" sz="2800" dirty="0"/>
              <a:t> je </a:t>
            </a:r>
            <a:r>
              <a:rPr lang="en-US" sz="2800" dirty="0" err="1"/>
              <a:t>atribut</a:t>
            </a:r>
            <a:r>
              <a:rPr lang="en-US" sz="2800" dirty="0"/>
              <a:t> (</a:t>
            </a:r>
            <a:r>
              <a:rPr lang="en-US" sz="2800" dirty="0" err="1"/>
              <a:t>osobina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Tabele</a:t>
            </a:r>
            <a:r>
              <a:rPr lang="en-US" sz="2800" dirty="0" smtClean="0"/>
              <a:t> </a:t>
            </a:r>
            <a:r>
              <a:rPr lang="en-US" sz="2800" dirty="0"/>
              <a:t>se </a:t>
            </a:r>
            <a:r>
              <a:rPr lang="en-US" sz="2800" dirty="0" err="1"/>
              <a:t>povezuju</a:t>
            </a:r>
            <a:r>
              <a:rPr lang="en-US" sz="2800" dirty="0"/>
              <a:t> </a:t>
            </a:r>
            <a:r>
              <a:rPr lang="en-US" sz="2800" dirty="0" err="1"/>
              <a:t>putem</a:t>
            </a:r>
            <a:r>
              <a:rPr lang="en-US" sz="2800" dirty="0"/>
              <a:t> </a:t>
            </a:r>
            <a:r>
              <a:rPr lang="en-US" sz="2800" dirty="0" err="1"/>
              <a:t>zajedničkih</a:t>
            </a:r>
            <a:r>
              <a:rPr lang="en-US" sz="2800" dirty="0"/>
              <a:t> </a:t>
            </a:r>
            <a:r>
              <a:rPr lang="en-US" sz="2800" dirty="0" err="1"/>
              <a:t>kolona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7273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04999"/>
            <a:ext cx="9438046" cy="482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Osnovni</a:t>
            </a:r>
            <a:r>
              <a:rPr lang="en-US" sz="2800" dirty="0"/>
              <a:t> </a:t>
            </a:r>
            <a:r>
              <a:rPr lang="en-US" sz="2800" dirty="0" err="1"/>
              <a:t>pojmovi</a:t>
            </a:r>
            <a:r>
              <a:rPr lang="en-US" sz="2800" dirty="0"/>
              <a:t> </a:t>
            </a:r>
            <a:r>
              <a:rPr lang="en-US" sz="2800" dirty="0" err="1"/>
              <a:t>relacionih</a:t>
            </a:r>
            <a:r>
              <a:rPr lang="en-US" sz="2800" dirty="0"/>
              <a:t> </a:t>
            </a:r>
            <a:r>
              <a:rPr lang="en-US" sz="2800" dirty="0" err="1" smtClean="0"/>
              <a:t>baza</a:t>
            </a:r>
            <a:r>
              <a:rPr lang="sr-Latn-RS" sz="2800" dirty="0" smtClean="0"/>
              <a:t>:</a:t>
            </a:r>
          </a:p>
          <a:p>
            <a:r>
              <a:rPr lang="en-US" sz="2800" dirty="0" err="1"/>
              <a:t>Tabela</a:t>
            </a:r>
            <a:r>
              <a:rPr lang="en-US" sz="2800" dirty="0"/>
              <a:t> (</a:t>
            </a:r>
            <a:r>
              <a:rPr lang="en-US" sz="2800" dirty="0" err="1"/>
              <a:t>Relacija</a:t>
            </a:r>
            <a:r>
              <a:rPr lang="en-US" sz="2800" dirty="0"/>
              <a:t>): </a:t>
            </a:r>
            <a:r>
              <a:rPr lang="en-US" sz="2800" dirty="0" err="1"/>
              <a:t>Skup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o </a:t>
            </a:r>
            <a:r>
              <a:rPr lang="en-US" sz="2800" dirty="0" err="1"/>
              <a:t>istim</a:t>
            </a:r>
            <a:r>
              <a:rPr lang="en-US" sz="2800" dirty="0"/>
              <a:t> </a:t>
            </a:r>
            <a:r>
              <a:rPr lang="en-US" sz="2800" dirty="0" err="1"/>
              <a:t>entitetima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tabela</a:t>
            </a:r>
            <a:r>
              <a:rPr lang="en-US" sz="2800" dirty="0"/>
              <a:t> "</a:t>
            </a:r>
            <a:r>
              <a:rPr lang="en-US" sz="2800" dirty="0" err="1"/>
              <a:t>Automobil</a:t>
            </a:r>
            <a:r>
              <a:rPr lang="en-US" sz="2800" dirty="0" smtClean="0"/>
              <a:t>").</a:t>
            </a:r>
            <a:endParaRPr lang="sr-Latn-RS" sz="2800" dirty="0" smtClean="0"/>
          </a:p>
          <a:p>
            <a:r>
              <a:rPr lang="en-US" sz="2800" dirty="0" err="1" smtClean="0"/>
              <a:t>Kolona</a:t>
            </a:r>
            <a:r>
              <a:rPr lang="en-US" sz="2800" dirty="0" smtClean="0"/>
              <a:t> </a:t>
            </a:r>
            <a:r>
              <a:rPr lang="en-US" sz="2800" dirty="0"/>
              <a:t>(</a:t>
            </a:r>
            <a:r>
              <a:rPr lang="en-US" sz="2800" dirty="0" err="1"/>
              <a:t>Atribut</a:t>
            </a:r>
            <a:r>
              <a:rPr lang="en-US" sz="2800" dirty="0"/>
              <a:t>): </a:t>
            </a:r>
            <a:r>
              <a:rPr lang="en-US" sz="2800" dirty="0" err="1"/>
              <a:t>Određuje</a:t>
            </a:r>
            <a:r>
              <a:rPr lang="en-US" sz="2800" dirty="0"/>
              <a:t> </a:t>
            </a:r>
            <a:r>
              <a:rPr lang="en-US" sz="2800" dirty="0" err="1"/>
              <a:t>karakteristike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Marka</a:t>
            </a:r>
            <a:r>
              <a:rPr lang="en-US" sz="2800" dirty="0"/>
              <a:t>, </a:t>
            </a:r>
            <a:r>
              <a:rPr lang="en-US" sz="2800" dirty="0" err="1"/>
              <a:t>Klasa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smtClean="0"/>
              <a:t>Red </a:t>
            </a:r>
            <a:r>
              <a:rPr lang="en-US" sz="2800" dirty="0"/>
              <a:t>(</a:t>
            </a:r>
            <a:r>
              <a:rPr lang="en-US" sz="2800" dirty="0" err="1"/>
              <a:t>Vrsta</a:t>
            </a:r>
            <a:r>
              <a:rPr lang="en-US" sz="2800" dirty="0"/>
              <a:t>/</a:t>
            </a:r>
            <a:r>
              <a:rPr lang="en-US" sz="2800" dirty="0" err="1"/>
              <a:t>Torka</a:t>
            </a:r>
            <a:r>
              <a:rPr lang="en-US" sz="2800" dirty="0"/>
              <a:t>): </a:t>
            </a:r>
            <a:r>
              <a:rPr lang="en-US" sz="2800" dirty="0" err="1"/>
              <a:t>Jedan</a:t>
            </a:r>
            <a:r>
              <a:rPr lang="en-US" sz="2800" dirty="0"/>
              <a:t> </a:t>
            </a:r>
            <a:r>
              <a:rPr lang="en-US" sz="2800" dirty="0" err="1"/>
              <a:t>konkretan</a:t>
            </a:r>
            <a:r>
              <a:rPr lang="en-US" sz="2800" dirty="0"/>
              <a:t> </a:t>
            </a:r>
            <a:r>
              <a:rPr lang="en-US" sz="2800" dirty="0" err="1"/>
              <a:t>zapis</a:t>
            </a:r>
            <a:r>
              <a:rPr lang="en-US" sz="2800" dirty="0"/>
              <a:t> u </a:t>
            </a:r>
            <a:r>
              <a:rPr lang="en-US" sz="2800" dirty="0" err="1"/>
              <a:t>tabeli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Polje</a:t>
            </a:r>
            <a:r>
              <a:rPr lang="en-US" sz="2800" dirty="0" smtClean="0"/>
              <a:t> </a:t>
            </a:r>
            <a:r>
              <a:rPr lang="en-US" sz="2800" dirty="0"/>
              <a:t>(</a:t>
            </a:r>
            <a:r>
              <a:rPr lang="en-US" sz="2800" dirty="0" err="1"/>
              <a:t>Ćelija</a:t>
            </a:r>
            <a:r>
              <a:rPr lang="en-US" sz="2800" dirty="0"/>
              <a:t>): </a:t>
            </a:r>
            <a:r>
              <a:rPr lang="en-US" sz="2800" dirty="0" err="1"/>
              <a:t>Mesto</a:t>
            </a:r>
            <a:r>
              <a:rPr lang="en-US" sz="2800" dirty="0"/>
              <a:t> </a:t>
            </a:r>
            <a:r>
              <a:rPr lang="en-US" sz="2800" dirty="0" err="1"/>
              <a:t>gde</a:t>
            </a:r>
            <a:r>
              <a:rPr lang="en-US" sz="2800" dirty="0"/>
              <a:t> se </a:t>
            </a:r>
            <a:r>
              <a:rPr lang="en-US" sz="2800" dirty="0" err="1"/>
              <a:t>seku</a:t>
            </a:r>
            <a:r>
              <a:rPr lang="en-US" sz="2800" dirty="0"/>
              <a:t> red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kolona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493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Pojam</a:t>
            </a:r>
            <a:r>
              <a:rPr lang="en-US" sz="4000" dirty="0"/>
              <a:t> </a:t>
            </a:r>
            <a:r>
              <a:rPr lang="en-US" sz="4000" dirty="0" err="1"/>
              <a:t>baze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Ključevi</a:t>
            </a:r>
            <a:r>
              <a:rPr lang="en-US" sz="2800" dirty="0"/>
              <a:t> u </a:t>
            </a:r>
            <a:r>
              <a:rPr lang="en-US" sz="2800" dirty="0" err="1"/>
              <a:t>bazama</a:t>
            </a:r>
            <a:r>
              <a:rPr lang="en-US" sz="2800" dirty="0"/>
              <a:t> </a:t>
            </a:r>
            <a:r>
              <a:rPr lang="en-US" sz="2800" dirty="0" err="1" smtClean="0"/>
              <a:t>podataka</a:t>
            </a:r>
            <a:r>
              <a:rPr lang="sr-Latn-RS" sz="2800" dirty="0" smtClean="0"/>
              <a:t>:</a:t>
            </a:r>
          </a:p>
          <a:p>
            <a:r>
              <a:rPr lang="en-US" sz="2800" dirty="0" err="1"/>
              <a:t>Primarni</a:t>
            </a:r>
            <a:r>
              <a:rPr lang="en-US" sz="2800" dirty="0"/>
              <a:t> </a:t>
            </a:r>
            <a:r>
              <a:rPr lang="en-US" sz="2800" dirty="0" err="1"/>
              <a:t>ključ</a:t>
            </a:r>
            <a:r>
              <a:rPr lang="en-US" sz="2800" dirty="0"/>
              <a:t>: </a:t>
            </a:r>
            <a:r>
              <a:rPr lang="en-US" sz="2800" dirty="0" err="1"/>
              <a:t>Jedinstveno</a:t>
            </a:r>
            <a:r>
              <a:rPr lang="en-US" sz="2800" dirty="0"/>
              <a:t> </a:t>
            </a:r>
            <a:r>
              <a:rPr lang="en-US" sz="2800" dirty="0" err="1"/>
              <a:t>određuje</a:t>
            </a:r>
            <a:r>
              <a:rPr lang="en-US" sz="2800" dirty="0"/>
              <a:t> </a:t>
            </a:r>
            <a:r>
              <a:rPr lang="en-US" sz="2800" dirty="0" err="1"/>
              <a:t>svaki</a:t>
            </a:r>
            <a:r>
              <a:rPr lang="en-US" sz="2800" dirty="0"/>
              <a:t> red u </a:t>
            </a:r>
            <a:r>
              <a:rPr lang="en-US" sz="2800" dirty="0" err="1"/>
              <a:t>tabeli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JMBG </a:t>
            </a:r>
            <a:r>
              <a:rPr lang="en-US" sz="2800" dirty="0" err="1"/>
              <a:t>ili</a:t>
            </a:r>
            <a:r>
              <a:rPr lang="en-US" sz="2800" dirty="0"/>
              <a:t> ID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Strani</a:t>
            </a:r>
            <a:r>
              <a:rPr lang="en-US" sz="2800" dirty="0" smtClean="0"/>
              <a:t> </a:t>
            </a:r>
            <a:r>
              <a:rPr lang="en-US" sz="2800" dirty="0" err="1"/>
              <a:t>ključ</a:t>
            </a:r>
            <a:r>
              <a:rPr lang="en-US" sz="2800" dirty="0"/>
              <a:t>: </a:t>
            </a:r>
            <a:r>
              <a:rPr lang="en-US" sz="2800" dirty="0" err="1"/>
              <a:t>Služi</a:t>
            </a:r>
            <a:r>
              <a:rPr lang="en-US" sz="2800" dirty="0"/>
              <a:t> </a:t>
            </a:r>
            <a:r>
              <a:rPr lang="en-US" sz="2800" dirty="0" err="1"/>
              <a:t>kao</a:t>
            </a:r>
            <a:r>
              <a:rPr lang="en-US" sz="2800" dirty="0"/>
              <a:t> "most"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/>
              <a:t>povezivanje</a:t>
            </a:r>
            <a:r>
              <a:rPr lang="en-US" sz="2800" dirty="0"/>
              <a:t> </a:t>
            </a:r>
            <a:r>
              <a:rPr lang="en-US" sz="2800" dirty="0" err="1"/>
              <a:t>dve</a:t>
            </a:r>
            <a:r>
              <a:rPr lang="en-US" sz="2800" dirty="0"/>
              <a:t> </a:t>
            </a:r>
            <a:r>
              <a:rPr lang="en-US" sz="2800" dirty="0" err="1"/>
              <a:t>tabele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Složeni</a:t>
            </a:r>
            <a:r>
              <a:rPr lang="en-US" sz="2800" dirty="0" smtClean="0"/>
              <a:t> </a:t>
            </a:r>
            <a:r>
              <a:rPr lang="en-US" sz="2800" dirty="0" err="1"/>
              <a:t>ključ</a:t>
            </a:r>
            <a:r>
              <a:rPr lang="en-US" sz="2800" dirty="0"/>
              <a:t>: </a:t>
            </a:r>
            <a:r>
              <a:rPr lang="en-US" sz="2800" dirty="0" err="1"/>
              <a:t>Spajanje</a:t>
            </a:r>
            <a:r>
              <a:rPr lang="en-US" sz="2800" dirty="0"/>
              <a:t> </a:t>
            </a:r>
            <a:r>
              <a:rPr lang="en-US" sz="2800" dirty="0" err="1"/>
              <a:t>više</a:t>
            </a:r>
            <a:r>
              <a:rPr lang="en-US" sz="2800" dirty="0"/>
              <a:t> </a:t>
            </a:r>
            <a:r>
              <a:rPr lang="en-US" sz="2800" dirty="0" err="1"/>
              <a:t>kolona</a:t>
            </a:r>
            <a:r>
              <a:rPr lang="en-US" sz="2800" dirty="0"/>
              <a:t> da bi se </a:t>
            </a:r>
            <a:r>
              <a:rPr lang="en-US" sz="2800" dirty="0" err="1"/>
              <a:t>dobila</a:t>
            </a:r>
            <a:r>
              <a:rPr lang="en-US" sz="2800" dirty="0"/>
              <a:t> </a:t>
            </a:r>
            <a:r>
              <a:rPr lang="en-US" sz="2800" dirty="0" err="1"/>
              <a:t>jedinstvenost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Broj</a:t>
            </a:r>
            <a:r>
              <a:rPr lang="en-US" sz="2800" dirty="0"/>
              <a:t> sale + </a:t>
            </a:r>
            <a:r>
              <a:rPr lang="en-US" sz="2800" dirty="0" err="1"/>
              <a:t>Broj</a:t>
            </a:r>
            <a:r>
              <a:rPr lang="en-US" sz="2800" dirty="0"/>
              <a:t> </a:t>
            </a:r>
            <a:r>
              <a:rPr lang="en-US" sz="2800" dirty="0" err="1"/>
              <a:t>sedišta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8007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Kreiranje</a:t>
            </a:r>
            <a:r>
              <a:rPr lang="en-US" sz="4000" dirty="0"/>
              <a:t> </a:t>
            </a:r>
            <a:r>
              <a:rPr lang="en-US" sz="4000" dirty="0" err="1"/>
              <a:t>baza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r>
              <a:rPr lang="en-US" sz="2800" dirty="0"/>
              <a:t>Nova </a:t>
            </a:r>
            <a:r>
              <a:rPr lang="en-US" sz="2800" dirty="0" err="1"/>
              <a:t>baza</a:t>
            </a:r>
            <a:r>
              <a:rPr lang="en-US" sz="2800" dirty="0"/>
              <a:t> se </a:t>
            </a:r>
            <a:r>
              <a:rPr lang="en-US" sz="2800" dirty="0" err="1"/>
              <a:t>pravi</a:t>
            </a:r>
            <a:r>
              <a:rPr lang="en-US" sz="2800" dirty="0"/>
              <a:t> </a:t>
            </a:r>
            <a:r>
              <a:rPr lang="en-US" sz="2800" dirty="0" err="1"/>
              <a:t>komandom</a:t>
            </a:r>
            <a:r>
              <a:rPr lang="en-US" sz="2800" dirty="0"/>
              <a:t> </a:t>
            </a:r>
            <a:r>
              <a:rPr lang="en-US" sz="2800" dirty="0" smtClean="0"/>
              <a:t>Database </a:t>
            </a:r>
            <a:r>
              <a:rPr lang="en-US" sz="2800" dirty="0"/>
              <a:t>→ Add a database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Potrebno</a:t>
            </a:r>
            <a:r>
              <a:rPr lang="en-US" sz="2800" dirty="0" smtClean="0"/>
              <a:t> </a:t>
            </a:r>
            <a:r>
              <a:rPr lang="en-US" sz="2800" dirty="0"/>
              <a:t>je </a:t>
            </a:r>
            <a:r>
              <a:rPr lang="en-US" sz="2800" dirty="0" err="1"/>
              <a:t>definisati</a:t>
            </a:r>
            <a:r>
              <a:rPr lang="en-US" sz="2800" dirty="0"/>
              <a:t> </a:t>
            </a:r>
            <a:r>
              <a:rPr lang="en-US" sz="2800" dirty="0" err="1"/>
              <a:t>lokaciju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naziv</a:t>
            </a:r>
            <a:r>
              <a:rPr lang="en-US" sz="2800" dirty="0"/>
              <a:t> </a:t>
            </a:r>
            <a:r>
              <a:rPr lang="en-US" sz="2800" dirty="0" err="1"/>
              <a:t>fajla</a:t>
            </a:r>
            <a:r>
              <a:rPr lang="en-US" sz="2800" dirty="0"/>
              <a:t> (</a:t>
            </a:r>
            <a:r>
              <a:rPr lang="en-US" sz="2800" dirty="0" err="1"/>
              <a:t>ekstenzije</a:t>
            </a:r>
            <a:r>
              <a:rPr lang="en-US" sz="2800" dirty="0"/>
              <a:t> .</a:t>
            </a:r>
            <a:r>
              <a:rPr lang="en-US" sz="2800" dirty="0" err="1"/>
              <a:t>db</a:t>
            </a:r>
            <a:r>
              <a:rPr lang="en-US" sz="2800" dirty="0"/>
              <a:t> </a:t>
            </a:r>
            <a:r>
              <a:rPr lang="en-US" sz="2800" dirty="0" err="1"/>
              <a:t>ili</a:t>
            </a:r>
            <a:r>
              <a:rPr lang="en-US" sz="2800" dirty="0"/>
              <a:t> .</a:t>
            </a:r>
            <a:r>
              <a:rPr lang="en-US" sz="2800" dirty="0" err="1"/>
              <a:t>sqlite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Glavni</a:t>
            </a:r>
            <a:r>
              <a:rPr lang="en-US" sz="2800" dirty="0" smtClean="0"/>
              <a:t> </a:t>
            </a:r>
            <a:r>
              <a:rPr lang="en-US" sz="2800" dirty="0" err="1"/>
              <a:t>delovi</a:t>
            </a:r>
            <a:r>
              <a:rPr lang="en-US" sz="2800" dirty="0"/>
              <a:t> </a:t>
            </a:r>
            <a:r>
              <a:rPr lang="en-US" sz="2800" dirty="0" err="1"/>
              <a:t>interfejsa</a:t>
            </a:r>
            <a:r>
              <a:rPr lang="en-US" sz="2800" dirty="0"/>
              <a:t>: Navigator (</a:t>
            </a:r>
            <a:r>
              <a:rPr lang="en-US" sz="2800" dirty="0" err="1"/>
              <a:t>liste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), Editor (</a:t>
            </a:r>
            <a:r>
              <a:rPr lang="en-US" sz="2800" dirty="0" err="1"/>
              <a:t>unos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)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Alatnica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941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Kreiranje</a:t>
            </a:r>
            <a:r>
              <a:rPr lang="en-US" sz="4000" dirty="0"/>
              <a:t> </a:t>
            </a:r>
            <a:r>
              <a:rPr lang="en-US" sz="4000" dirty="0" err="1"/>
              <a:t>baza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Planiranje</a:t>
            </a:r>
            <a:r>
              <a:rPr lang="en-US" sz="2800" dirty="0"/>
              <a:t> </a:t>
            </a:r>
            <a:r>
              <a:rPr lang="en-US" sz="2800" dirty="0" err="1"/>
              <a:t>baze</a:t>
            </a:r>
            <a:r>
              <a:rPr lang="en-US" sz="2800" dirty="0"/>
              <a:t> </a:t>
            </a:r>
            <a:r>
              <a:rPr lang="en-US" sz="2800" dirty="0" err="1" smtClean="0"/>
              <a:t>podataka</a:t>
            </a:r>
            <a:r>
              <a:rPr lang="sr-Latn-RS" sz="2800" dirty="0" smtClean="0"/>
              <a:t>:</a:t>
            </a:r>
          </a:p>
          <a:p>
            <a:r>
              <a:rPr lang="en-US" sz="2800" dirty="0" err="1" smtClean="0"/>
              <a:t>Najbitnija</a:t>
            </a:r>
            <a:r>
              <a:rPr lang="en-US" sz="2800" dirty="0" smtClean="0"/>
              <a:t> </a:t>
            </a:r>
            <a:r>
              <a:rPr lang="en-US" sz="2800" dirty="0" err="1"/>
              <a:t>faza</a:t>
            </a:r>
            <a:r>
              <a:rPr lang="en-US" sz="2800" dirty="0"/>
              <a:t> </a:t>
            </a:r>
            <a:r>
              <a:rPr lang="en-US" sz="2800" dirty="0" err="1"/>
              <a:t>koja</a:t>
            </a:r>
            <a:r>
              <a:rPr lang="en-US" sz="2800" dirty="0"/>
              <a:t> </a:t>
            </a:r>
            <a:r>
              <a:rPr lang="en-US" sz="2800" dirty="0" err="1"/>
              <a:t>počinje</a:t>
            </a:r>
            <a:r>
              <a:rPr lang="en-US" sz="2800" dirty="0"/>
              <a:t> </a:t>
            </a:r>
            <a:r>
              <a:rPr lang="en-US" sz="2800" dirty="0" err="1"/>
              <a:t>analizom</a:t>
            </a:r>
            <a:r>
              <a:rPr lang="en-US" sz="2800" dirty="0"/>
              <a:t> </a:t>
            </a:r>
            <a:r>
              <a:rPr lang="en-US" sz="2800" dirty="0" err="1"/>
              <a:t>zahteva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svrhe</a:t>
            </a:r>
            <a:r>
              <a:rPr lang="en-US" sz="2800" dirty="0"/>
              <a:t> </a:t>
            </a:r>
            <a:r>
              <a:rPr lang="en-US" sz="2800" dirty="0" err="1"/>
              <a:t>baze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Identifikacija</a:t>
            </a:r>
            <a:r>
              <a:rPr lang="en-US" sz="2800" dirty="0" smtClean="0"/>
              <a:t> </a:t>
            </a:r>
            <a:r>
              <a:rPr lang="en-US" sz="2800" dirty="0" err="1"/>
              <a:t>entiteta</a:t>
            </a:r>
            <a:r>
              <a:rPr lang="en-US" sz="2800" dirty="0"/>
              <a:t> (</a:t>
            </a:r>
            <a:r>
              <a:rPr lang="en-US" sz="2800" dirty="0" err="1"/>
              <a:t>glavnih</a:t>
            </a:r>
            <a:r>
              <a:rPr lang="en-US" sz="2800" dirty="0"/>
              <a:t> </a:t>
            </a:r>
            <a:r>
              <a:rPr lang="en-US" sz="2800" dirty="0" err="1"/>
              <a:t>tema</a:t>
            </a:r>
            <a:r>
              <a:rPr lang="en-US" sz="2800" dirty="0"/>
              <a:t> o </a:t>
            </a:r>
            <a:r>
              <a:rPr lang="en-US" sz="2800" dirty="0" err="1"/>
              <a:t>kojima</a:t>
            </a:r>
            <a:r>
              <a:rPr lang="en-US" sz="2800" dirty="0"/>
              <a:t> </a:t>
            </a:r>
            <a:r>
              <a:rPr lang="en-US" sz="2800" dirty="0" err="1"/>
              <a:t>čuvamo</a:t>
            </a:r>
            <a:r>
              <a:rPr lang="en-US" sz="2800" dirty="0"/>
              <a:t> </a:t>
            </a:r>
            <a:r>
              <a:rPr lang="en-US" sz="2800" dirty="0" err="1"/>
              <a:t>podatke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Definisanje</a:t>
            </a:r>
            <a:r>
              <a:rPr lang="en-US" sz="2800" dirty="0" smtClean="0"/>
              <a:t> </a:t>
            </a:r>
            <a:r>
              <a:rPr lang="en-US" sz="2800" dirty="0" err="1"/>
              <a:t>atributa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uspostavljanje</a:t>
            </a:r>
            <a:r>
              <a:rPr lang="en-US" sz="2800" dirty="0"/>
              <a:t> </a:t>
            </a:r>
            <a:r>
              <a:rPr lang="en-US" sz="2800" dirty="0" err="1"/>
              <a:t>veza</a:t>
            </a:r>
            <a:r>
              <a:rPr lang="en-US" sz="2800" dirty="0"/>
              <a:t> </a:t>
            </a:r>
            <a:r>
              <a:rPr lang="en-US" sz="2800" dirty="0" err="1"/>
              <a:t>između</a:t>
            </a:r>
            <a:r>
              <a:rPr lang="en-US" sz="2800" dirty="0"/>
              <a:t> </a:t>
            </a:r>
            <a:r>
              <a:rPr lang="en-US" sz="2800" dirty="0" err="1"/>
              <a:t>njih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763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en-US" sz="4000" dirty="0" err="1"/>
              <a:t>Kreiranje</a:t>
            </a:r>
            <a:r>
              <a:rPr lang="en-US" sz="4000" dirty="0"/>
              <a:t> </a:t>
            </a:r>
            <a:r>
              <a:rPr lang="en-US" sz="4000" dirty="0" err="1"/>
              <a:t>baza</a:t>
            </a:r>
            <a:r>
              <a:rPr lang="en-US" sz="4000" dirty="0"/>
              <a:t> </a:t>
            </a:r>
            <a:r>
              <a:rPr lang="en-US" sz="4000" dirty="0" err="1"/>
              <a:t>podataka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Korišćenje</a:t>
            </a:r>
            <a:r>
              <a:rPr lang="en-US" sz="2800" dirty="0"/>
              <a:t> </a:t>
            </a:r>
            <a:r>
              <a:rPr lang="en-US" sz="2800" dirty="0" err="1" smtClean="0"/>
              <a:t>šablona</a:t>
            </a:r>
            <a:r>
              <a:rPr lang="sr-Latn-RS" sz="2800" dirty="0" smtClean="0"/>
              <a:t>:</a:t>
            </a:r>
          </a:p>
          <a:p>
            <a:r>
              <a:rPr lang="en-US" sz="2800" dirty="0" err="1" smtClean="0"/>
              <a:t>Unapred</a:t>
            </a:r>
            <a:r>
              <a:rPr lang="en-US" sz="2800" dirty="0" smtClean="0"/>
              <a:t> </a:t>
            </a:r>
            <a:r>
              <a:rPr lang="en-US" sz="2800" dirty="0" err="1"/>
              <a:t>dizajnirane</a:t>
            </a:r>
            <a:r>
              <a:rPr lang="en-US" sz="2800" dirty="0"/>
              <a:t> </a:t>
            </a:r>
            <a:r>
              <a:rPr lang="en-US" sz="2800" dirty="0" err="1"/>
              <a:t>baze</a:t>
            </a:r>
            <a:r>
              <a:rPr lang="en-US" sz="2800" dirty="0"/>
              <a:t> </a:t>
            </a:r>
            <a:r>
              <a:rPr lang="en-US" sz="2800" dirty="0" err="1"/>
              <a:t>koje</a:t>
            </a:r>
            <a:r>
              <a:rPr lang="en-US" sz="2800" dirty="0"/>
              <a:t> </a:t>
            </a:r>
            <a:r>
              <a:rPr lang="en-US" sz="2800" dirty="0" err="1"/>
              <a:t>omogućavaju</a:t>
            </a:r>
            <a:r>
              <a:rPr lang="en-US" sz="2800" dirty="0"/>
              <a:t> </a:t>
            </a:r>
            <a:r>
              <a:rPr lang="en-US" sz="2800" dirty="0" err="1"/>
              <a:t>trenutni</a:t>
            </a:r>
            <a:r>
              <a:rPr lang="en-US" sz="2800" dirty="0"/>
              <a:t> </a:t>
            </a:r>
            <a:r>
              <a:rPr lang="en-US" sz="2800" dirty="0" err="1"/>
              <a:t>početak</a:t>
            </a:r>
            <a:r>
              <a:rPr lang="en-US" sz="2800" dirty="0"/>
              <a:t> </a:t>
            </a:r>
            <a:r>
              <a:rPr lang="en-US" sz="2800" dirty="0" err="1"/>
              <a:t>rada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Prednosti</a:t>
            </a:r>
            <a:r>
              <a:rPr lang="en-US" sz="2800" dirty="0"/>
              <a:t>: </a:t>
            </a:r>
            <a:r>
              <a:rPr lang="en-US" sz="2800" dirty="0" err="1"/>
              <a:t>Brzina</a:t>
            </a:r>
            <a:r>
              <a:rPr lang="en-US" sz="2800" dirty="0"/>
              <a:t> </a:t>
            </a:r>
            <a:r>
              <a:rPr lang="en-US" sz="2800" dirty="0" err="1"/>
              <a:t>izrade</a:t>
            </a:r>
            <a:r>
              <a:rPr lang="en-US" sz="2800" dirty="0"/>
              <a:t>, </a:t>
            </a:r>
            <a:r>
              <a:rPr lang="en-US" sz="2800" dirty="0" err="1"/>
              <a:t>profesionalni</a:t>
            </a:r>
            <a:r>
              <a:rPr lang="en-US" sz="2800" dirty="0"/>
              <a:t> </a:t>
            </a:r>
            <a:r>
              <a:rPr lang="en-US" sz="2800" dirty="0" err="1"/>
              <a:t>dizajn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kompletnost</a:t>
            </a:r>
            <a:r>
              <a:rPr lang="en-US" sz="2800" dirty="0"/>
              <a:t> (</a:t>
            </a:r>
            <a:r>
              <a:rPr lang="en-US" sz="2800" dirty="0" err="1"/>
              <a:t>forme</a:t>
            </a:r>
            <a:r>
              <a:rPr lang="en-US" sz="2800" dirty="0"/>
              <a:t>, </a:t>
            </a:r>
            <a:r>
              <a:rPr lang="en-US" sz="2800" dirty="0" err="1"/>
              <a:t>izveštaji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smtClean="0"/>
              <a:t>Mane</a:t>
            </a:r>
            <a:r>
              <a:rPr lang="en-US" sz="2800" dirty="0"/>
              <a:t>: </a:t>
            </a:r>
            <a:r>
              <a:rPr lang="en-US" sz="2800" dirty="0" err="1"/>
              <a:t>Suvišna</a:t>
            </a:r>
            <a:r>
              <a:rPr lang="en-US" sz="2800" dirty="0"/>
              <a:t> </a:t>
            </a:r>
            <a:r>
              <a:rPr lang="en-US" sz="2800" dirty="0" err="1"/>
              <a:t>polja</a:t>
            </a:r>
            <a:r>
              <a:rPr lang="en-US" sz="2800" dirty="0"/>
              <a:t>, </a:t>
            </a:r>
            <a:r>
              <a:rPr lang="en-US" sz="2800" dirty="0" err="1"/>
              <a:t>teško</a:t>
            </a:r>
            <a:r>
              <a:rPr lang="en-US" sz="2800" dirty="0"/>
              <a:t> </a:t>
            </a:r>
            <a:r>
              <a:rPr lang="en-US" sz="2800" dirty="0" err="1"/>
              <a:t>prilagođavanje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zavisnost</a:t>
            </a:r>
            <a:r>
              <a:rPr lang="en-US" sz="2800" dirty="0"/>
              <a:t> od </a:t>
            </a:r>
            <a:r>
              <a:rPr lang="en-US" sz="2800" dirty="0" err="1"/>
              <a:t>engleskog</a:t>
            </a:r>
            <a:r>
              <a:rPr lang="en-US" sz="2800" dirty="0"/>
              <a:t> </a:t>
            </a:r>
            <a:r>
              <a:rPr lang="en-US" sz="2800" dirty="0" err="1"/>
              <a:t>jezika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07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sr-Latn-RS" sz="4000" dirty="0" smtClean="0"/>
              <a:t>Rad s tabelama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Kreiranje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 u Microsoft </a:t>
            </a:r>
            <a:r>
              <a:rPr lang="en-US" sz="2800" dirty="0" smtClean="0"/>
              <a:t>Access-u</a:t>
            </a:r>
            <a:r>
              <a:rPr lang="sr-Latn-RS" sz="2800" dirty="0" smtClean="0"/>
              <a:t>:</a:t>
            </a:r>
          </a:p>
          <a:p>
            <a:r>
              <a:rPr lang="en-US" sz="2800" dirty="0" err="1" smtClean="0"/>
              <a:t>Dva</a:t>
            </a:r>
            <a:r>
              <a:rPr lang="en-US" sz="2800" dirty="0" smtClean="0"/>
              <a:t> </a:t>
            </a:r>
            <a:r>
              <a:rPr lang="en-US" sz="2800" dirty="0" err="1"/>
              <a:t>osnovna</a:t>
            </a:r>
            <a:r>
              <a:rPr lang="en-US" sz="2800" dirty="0"/>
              <a:t> </a:t>
            </a:r>
            <a:r>
              <a:rPr lang="en-US" sz="2800" dirty="0" err="1"/>
              <a:t>prikaza</a:t>
            </a:r>
            <a:r>
              <a:rPr lang="en-US" sz="2800" dirty="0"/>
              <a:t>: Datasheet View (</a:t>
            </a:r>
            <a:r>
              <a:rPr lang="en-US" sz="2800" dirty="0" err="1"/>
              <a:t>lista</a:t>
            </a:r>
            <a:r>
              <a:rPr lang="en-US" sz="2800" dirty="0"/>
              <a:t>) </a:t>
            </a:r>
            <a:r>
              <a:rPr lang="en-US" sz="2800" dirty="0" err="1"/>
              <a:t>i</a:t>
            </a:r>
            <a:r>
              <a:rPr lang="en-US" sz="2800" dirty="0"/>
              <a:t> Design View (</a:t>
            </a:r>
            <a:r>
              <a:rPr lang="en-US" sz="2800" dirty="0" err="1"/>
              <a:t>dizajn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smtClean="0"/>
              <a:t>U </a:t>
            </a:r>
            <a:r>
              <a:rPr lang="en-US" sz="2800" dirty="0"/>
              <a:t>Design View se </a:t>
            </a:r>
            <a:r>
              <a:rPr lang="en-US" sz="2800" dirty="0" err="1"/>
              <a:t>definišu</a:t>
            </a:r>
            <a:r>
              <a:rPr lang="en-US" sz="2800" dirty="0"/>
              <a:t> </a:t>
            </a:r>
            <a:r>
              <a:rPr lang="en-US" sz="2800" dirty="0" err="1"/>
              <a:t>nazivi</a:t>
            </a:r>
            <a:r>
              <a:rPr lang="en-US" sz="2800" dirty="0"/>
              <a:t> </a:t>
            </a:r>
            <a:r>
              <a:rPr lang="en-US" sz="2800" dirty="0" err="1"/>
              <a:t>polja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tipovi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Access </a:t>
            </a:r>
            <a:r>
              <a:rPr lang="en-US" sz="2800" dirty="0" err="1"/>
              <a:t>automatski</a:t>
            </a:r>
            <a:r>
              <a:rPr lang="en-US" sz="2800" dirty="0"/>
              <a:t> </a:t>
            </a:r>
            <a:r>
              <a:rPr lang="en-US" sz="2800" dirty="0" err="1"/>
              <a:t>može</a:t>
            </a:r>
            <a:r>
              <a:rPr lang="en-US" sz="2800" dirty="0"/>
              <a:t> </a:t>
            </a:r>
            <a:r>
              <a:rPr lang="en-US" sz="2800" dirty="0" err="1"/>
              <a:t>kreirati</a:t>
            </a:r>
            <a:r>
              <a:rPr lang="en-US" sz="2800" dirty="0"/>
              <a:t> ID </a:t>
            </a:r>
            <a:r>
              <a:rPr lang="en-US" sz="2800" dirty="0" err="1"/>
              <a:t>polje</a:t>
            </a:r>
            <a:r>
              <a:rPr lang="en-US" sz="2800" dirty="0"/>
              <a:t> </a:t>
            </a:r>
            <a:r>
              <a:rPr lang="en-US" sz="2800" dirty="0" err="1"/>
              <a:t>kao</a:t>
            </a:r>
            <a:r>
              <a:rPr lang="en-US" sz="2800" dirty="0"/>
              <a:t> </a:t>
            </a:r>
            <a:r>
              <a:rPr lang="en-US" sz="2800" dirty="0" err="1"/>
              <a:t>primarni</a:t>
            </a:r>
            <a:r>
              <a:rPr lang="en-US" sz="2800" dirty="0"/>
              <a:t> </a:t>
            </a:r>
            <a:r>
              <a:rPr lang="en-US" sz="2800" dirty="0" err="1"/>
              <a:t>ključ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9567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sr-Latn-RS" sz="4000" dirty="0" smtClean="0"/>
              <a:t>Rad s tabelama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Tipovi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(Data Type</a:t>
            </a:r>
            <a:r>
              <a:rPr lang="en-US" sz="2800" dirty="0" smtClean="0"/>
              <a:t>)</a:t>
            </a:r>
            <a:r>
              <a:rPr lang="sr-Latn-RS" sz="2800" dirty="0" smtClean="0"/>
              <a:t>:</a:t>
            </a:r>
          </a:p>
          <a:p>
            <a:r>
              <a:rPr lang="en-US" sz="2800" dirty="0" smtClean="0"/>
              <a:t>Short </a:t>
            </a:r>
            <a:r>
              <a:rPr lang="en-US" sz="2800" dirty="0"/>
              <a:t>Text: </a:t>
            </a:r>
            <a:r>
              <a:rPr lang="en-US" sz="2800" dirty="0" err="1"/>
              <a:t>Tekst</a:t>
            </a:r>
            <a:r>
              <a:rPr lang="en-US" sz="2800" dirty="0"/>
              <a:t> do 255 </a:t>
            </a:r>
            <a:r>
              <a:rPr lang="en-US" sz="2800" dirty="0" err="1"/>
              <a:t>karaktera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Ime</a:t>
            </a:r>
            <a:r>
              <a:rPr lang="en-US" sz="2800" dirty="0"/>
              <a:t>, </a:t>
            </a:r>
            <a:r>
              <a:rPr lang="en-US" sz="2800" dirty="0" err="1"/>
              <a:t>Marka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smtClean="0"/>
              <a:t>Number</a:t>
            </a:r>
            <a:r>
              <a:rPr lang="en-US" sz="2800" dirty="0"/>
              <a:t>: </a:t>
            </a:r>
            <a:r>
              <a:rPr lang="en-US" sz="2800" dirty="0" err="1"/>
              <a:t>Brojne</a:t>
            </a:r>
            <a:r>
              <a:rPr lang="en-US" sz="2800" dirty="0"/>
              <a:t> </a:t>
            </a:r>
            <a:r>
              <a:rPr lang="en-US" sz="2800" dirty="0" err="1"/>
              <a:t>vrednosti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/>
              <a:t>proračune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Date/Time</a:t>
            </a:r>
            <a:r>
              <a:rPr lang="en-US" sz="2800" dirty="0"/>
              <a:t>: </a:t>
            </a:r>
            <a:r>
              <a:rPr lang="en-US" sz="2800" dirty="0" err="1"/>
              <a:t>Datumi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vremena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Yes/No</a:t>
            </a:r>
            <a:r>
              <a:rPr lang="en-US" sz="2800" dirty="0"/>
              <a:t>: </a:t>
            </a:r>
            <a:r>
              <a:rPr lang="en-US" sz="2800" dirty="0" err="1"/>
              <a:t>Logička</a:t>
            </a:r>
            <a:r>
              <a:rPr lang="en-US" sz="2800" dirty="0"/>
              <a:t> </a:t>
            </a:r>
            <a:r>
              <a:rPr lang="en-US" sz="2800" dirty="0" err="1"/>
              <a:t>polja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"Da li je </a:t>
            </a:r>
            <a:r>
              <a:rPr lang="en-US" sz="2800" dirty="0" err="1"/>
              <a:t>proizvod</a:t>
            </a:r>
            <a:r>
              <a:rPr lang="en-US" sz="2800" dirty="0"/>
              <a:t> </a:t>
            </a:r>
            <a:r>
              <a:rPr lang="en-US" sz="2800" dirty="0" err="1"/>
              <a:t>na</a:t>
            </a:r>
            <a:r>
              <a:rPr lang="en-US" sz="2800" dirty="0"/>
              <a:t> </a:t>
            </a:r>
            <a:r>
              <a:rPr lang="en-US" sz="2800" dirty="0" err="1"/>
              <a:t>stanju</a:t>
            </a:r>
            <a:r>
              <a:rPr lang="en-US" sz="2800" dirty="0" smtClean="0"/>
              <a:t>?").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5789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8129" y="624110"/>
            <a:ext cx="9636483" cy="1280890"/>
          </a:xfrm>
        </p:spPr>
        <p:txBody>
          <a:bodyPr>
            <a:normAutofit/>
          </a:bodyPr>
          <a:lstStyle/>
          <a:p>
            <a:r>
              <a:rPr lang="sr-Latn-RS" sz="4000" dirty="0" smtClean="0"/>
              <a:t>Rad s tabelama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29" y="1986116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Unošenje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u </a:t>
            </a:r>
            <a:r>
              <a:rPr lang="en-US" sz="2800" dirty="0" err="1"/>
              <a:t>tabelu</a:t>
            </a:r>
            <a:r>
              <a:rPr lang="sr-Latn-RS" sz="2800" dirty="0" smtClean="0"/>
              <a:t>:</a:t>
            </a:r>
          </a:p>
          <a:p>
            <a:r>
              <a:rPr lang="en-US" sz="2800" dirty="0" err="1" smtClean="0"/>
              <a:t>Direktan</a:t>
            </a:r>
            <a:r>
              <a:rPr lang="en-US" sz="2800" dirty="0" smtClean="0"/>
              <a:t> </a:t>
            </a:r>
            <a:r>
              <a:rPr lang="en-US" sz="2800" dirty="0" err="1"/>
              <a:t>unos</a:t>
            </a:r>
            <a:r>
              <a:rPr lang="en-US" sz="2800" dirty="0"/>
              <a:t>: </a:t>
            </a:r>
            <a:r>
              <a:rPr lang="en-US" sz="2800" dirty="0" err="1"/>
              <a:t>Slično</a:t>
            </a:r>
            <a:r>
              <a:rPr lang="en-US" sz="2800" dirty="0"/>
              <a:t> </a:t>
            </a:r>
            <a:r>
              <a:rPr lang="en-US" sz="2800" dirty="0" err="1"/>
              <a:t>radu</a:t>
            </a:r>
            <a:r>
              <a:rPr lang="en-US" sz="2800" dirty="0"/>
              <a:t> u Excel-u </a:t>
            </a:r>
            <a:r>
              <a:rPr lang="en-US" sz="2800" dirty="0" err="1"/>
              <a:t>kroz</a:t>
            </a:r>
            <a:r>
              <a:rPr lang="en-US" sz="2800" dirty="0"/>
              <a:t> Datasheet View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Preko</a:t>
            </a:r>
            <a:r>
              <a:rPr lang="en-US" sz="2800" dirty="0" smtClean="0"/>
              <a:t> </a:t>
            </a:r>
            <a:r>
              <a:rPr lang="en-US" sz="2800" dirty="0" err="1"/>
              <a:t>Forme</a:t>
            </a:r>
            <a:r>
              <a:rPr lang="en-US" sz="2800" dirty="0"/>
              <a:t>: </a:t>
            </a:r>
            <a:r>
              <a:rPr lang="en-US" sz="2800" dirty="0" err="1"/>
              <a:t>Pregledniji</a:t>
            </a:r>
            <a:r>
              <a:rPr lang="en-US" sz="2800" dirty="0"/>
              <a:t> </a:t>
            </a:r>
            <a:r>
              <a:rPr lang="en-US" sz="2800" dirty="0" err="1"/>
              <a:t>unos</a:t>
            </a:r>
            <a:r>
              <a:rPr lang="en-US" sz="2800" dirty="0"/>
              <a:t> </a:t>
            </a:r>
            <a:r>
              <a:rPr lang="en-US" sz="2800" dirty="0" err="1"/>
              <a:t>jednog</a:t>
            </a:r>
            <a:r>
              <a:rPr lang="en-US" sz="2800" dirty="0"/>
              <a:t> </a:t>
            </a:r>
            <a:r>
              <a:rPr lang="en-US" sz="2800" dirty="0" err="1"/>
              <a:t>po</a:t>
            </a:r>
            <a:r>
              <a:rPr lang="en-US" sz="2800" dirty="0"/>
              <a:t> </a:t>
            </a:r>
            <a:r>
              <a:rPr lang="en-US" sz="2800" dirty="0" err="1"/>
              <a:t>jednog</a:t>
            </a:r>
            <a:r>
              <a:rPr lang="en-US" sz="2800" dirty="0"/>
              <a:t> </a:t>
            </a:r>
            <a:r>
              <a:rPr lang="en-US" sz="2800" dirty="0" err="1"/>
              <a:t>zapisa</a:t>
            </a:r>
            <a:r>
              <a:rPr lang="en-US" sz="2800" dirty="0"/>
              <a:t>, </a:t>
            </a:r>
            <a:r>
              <a:rPr lang="en-US" sz="2800" dirty="0" err="1"/>
              <a:t>smanjuje</a:t>
            </a:r>
            <a:r>
              <a:rPr lang="en-US" sz="2800" dirty="0"/>
              <a:t> </a:t>
            </a:r>
            <a:r>
              <a:rPr lang="en-US" sz="2800" dirty="0" err="1"/>
              <a:t>greške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smtClean="0"/>
              <a:t>Lookup </a:t>
            </a:r>
            <a:r>
              <a:rPr lang="en-US" sz="2800" dirty="0" err="1"/>
              <a:t>polja</a:t>
            </a:r>
            <a:r>
              <a:rPr lang="en-US" sz="2800" dirty="0"/>
              <a:t>: </a:t>
            </a:r>
            <a:r>
              <a:rPr lang="en-US" sz="2800" dirty="0" err="1"/>
              <a:t>Padajući</a:t>
            </a:r>
            <a:r>
              <a:rPr lang="en-US" sz="2800" dirty="0"/>
              <a:t> </a:t>
            </a:r>
            <a:r>
              <a:rPr lang="en-US" sz="2800" dirty="0" err="1"/>
              <a:t>meniji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/>
              <a:t>biranje</a:t>
            </a:r>
            <a:r>
              <a:rPr lang="en-US" sz="2800" dirty="0"/>
              <a:t> </a:t>
            </a:r>
            <a:r>
              <a:rPr lang="en-US" sz="2800" dirty="0" err="1"/>
              <a:t>vrednosti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drugih</a:t>
            </a:r>
            <a:r>
              <a:rPr lang="en-US" sz="2800" dirty="0"/>
              <a:t> </a:t>
            </a:r>
            <a:r>
              <a:rPr lang="en-US" sz="2800" dirty="0" err="1"/>
              <a:t>tabela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624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51" y="624110"/>
            <a:ext cx="9694862" cy="1280890"/>
          </a:xfrm>
        </p:spPr>
        <p:txBody>
          <a:bodyPr>
            <a:normAutofit/>
          </a:bodyPr>
          <a:lstStyle/>
          <a:p>
            <a:r>
              <a:rPr lang="sr-Latn-RS" sz="4000" dirty="0" smtClean="0"/>
              <a:t>Veza između tabela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0" y="2133600"/>
            <a:ext cx="9694862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Vrste</a:t>
            </a:r>
            <a:r>
              <a:rPr lang="en-US" sz="2800" dirty="0"/>
              <a:t> </a:t>
            </a:r>
            <a:r>
              <a:rPr lang="en-US" sz="2800" dirty="0" err="1"/>
              <a:t>veza</a:t>
            </a:r>
            <a:r>
              <a:rPr lang="en-US" sz="2800" dirty="0"/>
              <a:t> </a:t>
            </a:r>
            <a:r>
              <a:rPr lang="en-US" sz="2800" dirty="0" err="1"/>
              <a:t>između</a:t>
            </a:r>
            <a:r>
              <a:rPr lang="en-US" sz="2800" dirty="0"/>
              <a:t> </a:t>
            </a:r>
            <a:r>
              <a:rPr lang="en-US" sz="2800" dirty="0" err="1" smtClean="0"/>
              <a:t>tabela</a:t>
            </a:r>
            <a:r>
              <a:rPr lang="sr-Latn-RS" sz="2800" dirty="0" smtClean="0"/>
              <a:t>:</a:t>
            </a:r>
          </a:p>
          <a:p>
            <a:r>
              <a:rPr lang="en-US" sz="2800" dirty="0" err="1" smtClean="0"/>
              <a:t>Jedan-prema-više</a:t>
            </a:r>
            <a:r>
              <a:rPr lang="en-US" sz="2800" dirty="0" smtClean="0"/>
              <a:t> </a:t>
            </a:r>
            <a:r>
              <a:rPr lang="en-US" sz="2800" dirty="0"/>
              <a:t>(1:N): </a:t>
            </a:r>
            <a:r>
              <a:rPr lang="en-US" sz="2800" dirty="0" err="1"/>
              <a:t>Najčešća</a:t>
            </a:r>
            <a:r>
              <a:rPr lang="en-US" sz="2800" dirty="0"/>
              <a:t> </a:t>
            </a:r>
            <a:r>
              <a:rPr lang="en-US" sz="2800" dirty="0" err="1"/>
              <a:t>veza</a:t>
            </a:r>
            <a:r>
              <a:rPr lang="en-US" sz="2800" dirty="0"/>
              <a:t> (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jedno</a:t>
            </a:r>
            <a:r>
              <a:rPr lang="en-US" sz="2800" dirty="0"/>
              <a:t> </a:t>
            </a:r>
            <a:r>
              <a:rPr lang="en-US" sz="2800" dirty="0" err="1"/>
              <a:t>odeljenje</a:t>
            </a:r>
            <a:r>
              <a:rPr lang="en-US" sz="2800" dirty="0"/>
              <a:t> — </a:t>
            </a:r>
            <a:r>
              <a:rPr lang="en-US" sz="2800" dirty="0" err="1"/>
              <a:t>više</a:t>
            </a:r>
            <a:r>
              <a:rPr lang="en-US" sz="2800" dirty="0"/>
              <a:t> </a:t>
            </a:r>
            <a:r>
              <a:rPr lang="en-US" sz="2800" dirty="0" err="1"/>
              <a:t>učenika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Više-prema-više</a:t>
            </a:r>
            <a:r>
              <a:rPr lang="en-US" sz="2800" dirty="0" smtClean="0"/>
              <a:t> </a:t>
            </a:r>
            <a:r>
              <a:rPr lang="en-US" sz="2800" dirty="0"/>
              <a:t>(M:N): (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učenik</a:t>
            </a:r>
            <a:r>
              <a:rPr lang="en-US" sz="2800" dirty="0"/>
              <a:t> </a:t>
            </a:r>
            <a:r>
              <a:rPr lang="en-US" sz="2800" dirty="0" err="1"/>
              <a:t>ima</a:t>
            </a:r>
            <a:r>
              <a:rPr lang="en-US" sz="2800" dirty="0"/>
              <a:t> </a:t>
            </a:r>
            <a:r>
              <a:rPr lang="en-US" sz="2800" dirty="0" err="1"/>
              <a:t>više</a:t>
            </a:r>
            <a:r>
              <a:rPr lang="en-US" sz="2800" dirty="0"/>
              <a:t> </a:t>
            </a:r>
            <a:r>
              <a:rPr lang="en-US" sz="2800" dirty="0" err="1"/>
              <a:t>predmeta</a:t>
            </a:r>
            <a:r>
              <a:rPr lang="en-US" sz="2800" dirty="0"/>
              <a:t>, </a:t>
            </a:r>
            <a:r>
              <a:rPr lang="en-US" sz="2800" dirty="0" err="1"/>
              <a:t>predmet</a:t>
            </a:r>
            <a:r>
              <a:rPr lang="en-US" sz="2800" dirty="0"/>
              <a:t> </a:t>
            </a:r>
            <a:r>
              <a:rPr lang="en-US" sz="2800" dirty="0" err="1"/>
              <a:t>sluša</a:t>
            </a:r>
            <a:r>
              <a:rPr lang="en-US" sz="2800" dirty="0"/>
              <a:t> </a:t>
            </a:r>
            <a:r>
              <a:rPr lang="en-US" sz="2800" dirty="0" err="1"/>
              <a:t>više</a:t>
            </a:r>
            <a:r>
              <a:rPr lang="en-US" sz="2800" dirty="0"/>
              <a:t> </a:t>
            </a:r>
            <a:r>
              <a:rPr lang="en-US" sz="2800" dirty="0" err="1"/>
              <a:t>učenika</a:t>
            </a:r>
            <a:r>
              <a:rPr lang="en-US" sz="2800" dirty="0" smtClean="0"/>
              <a:t>).</a:t>
            </a:r>
            <a:endParaRPr lang="sr-Latn-RS" sz="2800" dirty="0" smtClean="0"/>
          </a:p>
          <a:p>
            <a:r>
              <a:rPr lang="en-US" sz="2800" dirty="0" err="1" smtClean="0"/>
              <a:t>Jedan-prema-jedan</a:t>
            </a:r>
            <a:r>
              <a:rPr lang="en-US" sz="2800" dirty="0" smtClean="0"/>
              <a:t> </a:t>
            </a:r>
            <a:r>
              <a:rPr lang="en-US" sz="2800" dirty="0"/>
              <a:t>(1:1): (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svakom</a:t>
            </a:r>
            <a:r>
              <a:rPr lang="en-US" sz="2800" dirty="0"/>
              <a:t> </a:t>
            </a:r>
            <a:r>
              <a:rPr lang="en-US" sz="2800" dirty="0" err="1"/>
              <a:t>učeniku</a:t>
            </a:r>
            <a:r>
              <a:rPr lang="en-US" sz="2800" dirty="0"/>
              <a:t> </a:t>
            </a:r>
            <a:r>
              <a:rPr lang="en-US" sz="2800" dirty="0" err="1"/>
              <a:t>pripada</a:t>
            </a:r>
            <a:r>
              <a:rPr lang="en-US" sz="2800" dirty="0"/>
              <a:t> </a:t>
            </a:r>
            <a:r>
              <a:rPr lang="en-US" sz="2800" dirty="0" err="1"/>
              <a:t>jedan</a:t>
            </a:r>
            <a:r>
              <a:rPr lang="en-US" sz="2800" dirty="0"/>
              <a:t> </a:t>
            </a:r>
            <a:r>
              <a:rPr lang="en-US" sz="2800" dirty="0" err="1"/>
              <a:t>broj</a:t>
            </a:r>
            <a:r>
              <a:rPr lang="en-US" sz="2800" dirty="0"/>
              <a:t> u </a:t>
            </a:r>
            <a:r>
              <a:rPr lang="en-US" sz="2800" dirty="0" err="1"/>
              <a:t>dnevniku</a:t>
            </a:r>
            <a:r>
              <a:rPr lang="en-US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258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51" y="624110"/>
            <a:ext cx="9694862" cy="1280890"/>
          </a:xfrm>
        </p:spPr>
        <p:txBody>
          <a:bodyPr>
            <a:normAutofit/>
          </a:bodyPr>
          <a:lstStyle/>
          <a:p>
            <a:r>
              <a:rPr lang="sr-Latn-RS" sz="4000" dirty="0" smtClean="0"/>
              <a:t>Veza između tabela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0" y="2133600"/>
            <a:ext cx="9694862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/>
              <a:t>Referencijalni</a:t>
            </a:r>
            <a:r>
              <a:rPr lang="en-US" sz="2800" dirty="0"/>
              <a:t> </a:t>
            </a:r>
            <a:r>
              <a:rPr lang="en-US" sz="2800" dirty="0" err="1"/>
              <a:t>integritet</a:t>
            </a:r>
            <a:endParaRPr lang="sr-Latn-RS" sz="2800" dirty="0" smtClean="0"/>
          </a:p>
          <a:p>
            <a:r>
              <a:rPr lang="en-US" sz="2800" dirty="0" err="1" smtClean="0"/>
              <a:t>Pravilo</a:t>
            </a:r>
            <a:r>
              <a:rPr lang="en-US" sz="2800" dirty="0" smtClean="0"/>
              <a:t> </a:t>
            </a:r>
            <a:r>
              <a:rPr lang="en-US" sz="2800" dirty="0" err="1"/>
              <a:t>koje</a:t>
            </a:r>
            <a:r>
              <a:rPr lang="en-US" sz="2800" dirty="0"/>
              <a:t> </a:t>
            </a:r>
            <a:r>
              <a:rPr lang="en-US" sz="2800" dirty="0" err="1"/>
              <a:t>osigurava</a:t>
            </a:r>
            <a:r>
              <a:rPr lang="en-US" sz="2800" dirty="0"/>
              <a:t> da </a:t>
            </a:r>
            <a:r>
              <a:rPr lang="en-US" sz="2800" dirty="0" err="1"/>
              <a:t>baza</a:t>
            </a:r>
            <a:r>
              <a:rPr lang="en-US" sz="2800" dirty="0"/>
              <a:t> ne </a:t>
            </a:r>
            <a:r>
              <a:rPr lang="en-US" sz="2800" dirty="0" err="1"/>
              <a:t>dozvoli</a:t>
            </a:r>
            <a:r>
              <a:rPr lang="en-US" sz="2800" dirty="0"/>
              <a:t> </a:t>
            </a:r>
            <a:r>
              <a:rPr lang="en-US" sz="2800" dirty="0" err="1"/>
              <a:t>unos</a:t>
            </a:r>
            <a:r>
              <a:rPr lang="en-US" sz="2800" dirty="0"/>
              <a:t> </a:t>
            </a:r>
            <a:r>
              <a:rPr lang="en-US" sz="2800" dirty="0" err="1"/>
              <a:t>nelogičnih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Sprečava</a:t>
            </a:r>
            <a:r>
              <a:rPr lang="en-US" sz="2800" dirty="0" smtClean="0"/>
              <a:t> </a:t>
            </a:r>
            <a:r>
              <a:rPr lang="en-US" sz="2800" dirty="0" err="1"/>
              <a:t>npr</a:t>
            </a:r>
            <a:r>
              <a:rPr lang="en-US" sz="2800" dirty="0"/>
              <a:t>. </a:t>
            </a:r>
            <a:r>
              <a:rPr lang="en-US" sz="2800" dirty="0" err="1"/>
              <a:t>unos</a:t>
            </a:r>
            <a:r>
              <a:rPr lang="en-US" sz="2800" dirty="0"/>
              <a:t> </a:t>
            </a:r>
            <a:r>
              <a:rPr lang="en-US" sz="2800" dirty="0" err="1"/>
              <a:t>ocene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/>
              <a:t>učenika</a:t>
            </a:r>
            <a:r>
              <a:rPr lang="en-US" sz="2800" dirty="0"/>
              <a:t> </a:t>
            </a:r>
            <a:r>
              <a:rPr lang="en-US" sz="2800" dirty="0" err="1"/>
              <a:t>koji</a:t>
            </a:r>
            <a:r>
              <a:rPr lang="en-US" sz="2800" dirty="0"/>
              <a:t> </a:t>
            </a:r>
            <a:r>
              <a:rPr lang="en-US" sz="2800" dirty="0" err="1"/>
              <a:t>uopšte</a:t>
            </a:r>
            <a:r>
              <a:rPr lang="en-US" sz="2800" dirty="0"/>
              <a:t> ne </a:t>
            </a:r>
            <a:r>
              <a:rPr lang="en-US" sz="2800" dirty="0" err="1"/>
              <a:t>postoji</a:t>
            </a:r>
            <a:r>
              <a:rPr lang="en-US" sz="2800" dirty="0"/>
              <a:t> u </a:t>
            </a:r>
            <a:r>
              <a:rPr lang="en-US" sz="2800" dirty="0" err="1"/>
              <a:t>bazi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Održava</a:t>
            </a:r>
            <a:r>
              <a:rPr lang="en-US" sz="2800" dirty="0" smtClean="0"/>
              <a:t> </a:t>
            </a:r>
            <a:r>
              <a:rPr lang="en-US" sz="2800" dirty="0" err="1"/>
              <a:t>tačnost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jedinstvenost</a:t>
            </a:r>
            <a:r>
              <a:rPr lang="en-US" sz="2800" dirty="0"/>
              <a:t> </a:t>
            </a:r>
            <a:r>
              <a:rPr lang="en-US" sz="2800" dirty="0" err="1"/>
              <a:t>cele</a:t>
            </a:r>
            <a:r>
              <a:rPr lang="en-US" sz="2800" dirty="0"/>
              <a:t> </a:t>
            </a:r>
            <a:r>
              <a:rPr lang="en-US" sz="2800" dirty="0" err="1"/>
              <a:t>strukture</a:t>
            </a:r>
            <a:r>
              <a:rPr lang="en-US" sz="2800" dirty="0"/>
              <a:t> </a:t>
            </a:r>
            <a:r>
              <a:rPr lang="en-US" sz="2800" dirty="0" err="1"/>
              <a:t>baze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996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5951" y="624110"/>
            <a:ext cx="9618662" cy="1280890"/>
          </a:xfrm>
        </p:spPr>
        <p:txBody>
          <a:bodyPr>
            <a:normAutofit/>
          </a:bodyPr>
          <a:lstStyle/>
          <a:p>
            <a:r>
              <a:rPr lang="sr-Latn-RS" sz="4000" dirty="0" smtClean="0"/>
              <a:t>Zaključak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951" y="2133600"/>
            <a:ext cx="9618661" cy="3777622"/>
          </a:xfrm>
        </p:spPr>
        <p:txBody>
          <a:bodyPr>
            <a:normAutofit/>
          </a:bodyPr>
          <a:lstStyle/>
          <a:p>
            <a:r>
              <a:rPr lang="en-US" sz="2800" dirty="0" err="1"/>
              <a:t>Baze</a:t>
            </a:r>
            <a:r>
              <a:rPr lang="en-US" sz="2800" dirty="0"/>
              <a:t> </a:t>
            </a:r>
            <a:r>
              <a:rPr lang="en-US" sz="2800" dirty="0" err="1"/>
              <a:t>podataka</a:t>
            </a:r>
            <a:r>
              <a:rPr lang="en-US" sz="2800" dirty="0"/>
              <a:t>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temelj</a:t>
            </a:r>
            <a:r>
              <a:rPr lang="en-US" sz="2800" dirty="0"/>
              <a:t> </a:t>
            </a:r>
            <a:r>
              <a:rPr lang="en-US" sz="2800" dirty="0" err="1"/>
              <a:t>modernog</a:t>
            </a:r>
            <a:r>
              <a:rPr lang="en-US" sz="2800" dirty="0"/>
              <a:t> </a:t>
            </a:r>
            <a:r>
              <a:rPr lang="en-US" sz="2800" dirty="0" err="1"/>
              <a:t>digitalnog</a:t>
            </a:r>
            <a:r>
              <a:rPr lang="en-US" sz="2800" dirty="0"/>
              <a:t> </a:t>
            </a:r>
            <a:r>
              <a:rPr lang="en-US" sz="2800" dirty="0" err="1"/>
              <a:t>društva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Pravilno</a:t>
            </a:r>
            <a:r>
              <a:rPr lang="en-US" sz="2800" dirty="0" smtClean="0"/>
              <a:t> </a:t>
            </a:r>
            <a:r>
              <a:rPr lang="en-US" sz="2800" dirty="0" err="1"/>
              <a:t>planiranje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 err="1"/>
              <a:t>odabir</a:t>
            </a:r>
            <a:r>
              <a:rPr lang="en-US" sz="2800" dirty="0"/>
              <a:t> SUBP-a </a:t>
            </a:r>
            <a:r>
              <a:rPr lang="en-US" sz="2800" dirty="0" err="1"/>
              <a:t>su</a:t>
            </a:r>
            <a:r>
              <a:rPr lang="en-US" sz="2800" dirty="0"/>
              <a:t> </a:t>
            </a:r>
            <a:r>
              <a:rPr lang="en-US" sz="2800" dirty="0" err="1"/>
              <a:t>ključni</a:t>
            </a:r>
            <a:r>
              <a:rPr lang="en-US" sz="2800" dirty="0"/>
              <a:t> </a:t>
            </a:r>
            <a:r>
              <a:rPr lang="en-US" sz="2800" dirty="0" err="1"/>
              <a:t>za</a:t>
            </a:r>
            <a:r>
              <a:rPr lang="en-US" sz="2800" dirty="0"/>
              <a:t> </a:t>
            </a:r>
            <a:r>
              <a:rPr lang="en-US" sz="2800" dirty="0" err="1"/>
              <a:t>efikasnost</a:t>
            </a:r>
            <a:r>
              <a:rPr lang="en-US" sz="2800" dirty="0"/>
              <a:t> </a:t>
            </a:r>
            <a:r>
              <a:rPr lang="en-US" sz="2800" dirty="0" err="1"/>
              <a:t>sistema</a:t>
            </a:r>
            <a:r>
              <a:rPr lang="en-US" sz="2800" dirty="0" smtClean="0"/>
              <a:t>.</a:t>
            </a:r>
            <a:endParaRPr lang="sr-Latn-RS" sz="2800" dirty="0" smtClean="0"/>
          </a:p>
          <a:p>
            <a:r>
              <a:rPr lang="en-US" sz="2800" dirty="0" err="1" smtClean="0"/>
              <a:t>Omogućavaju</a:t>
            </a:r>
            <a:r>
              <a:rPr lang="en-US" sz="2800" dirty="0" smtClean="0"/>
              <a:t> </a:t>
            </a:r>
            <a:r>
              <a:rPr lang="en-US" sz="2800" dirty="0" err="1"/>
              <a:t>nam</a:t>
            </a:r>
            <a:r>
              <a:rPr lang="en-US" sz="2800" dirty="0"/>
              <a:t> da </a:t>
            </a:r>
            <a:r>
              <a:rPr lang="en-US" sz="2800" dirty="0" err="1"/>
              <a:t>upravljamo</a:t>
            </a:r>
            <a:r>
              <a:rPr lang="en-US" sz="2800" dirty="0"/>
              <a:t> </a:t>
            </a:r>
            <a:r>
              <a:rPr lang="en-US" sz="2800" dirty="0" err="1"/>
              <a:t>ogromnim</a:t>
            </a:r>
            <a:r>
              <a:rPr lang="en-US" sz="2800" dirty="0"/>
              <a:t> </a:t>
            </a:r>
            <a:r>
              <a:rPr lang="en-US" sz="2800" dirty="0" err="1"/>
              <a:t>količinama</a:t>
            </a:r>
            <a:r>
              <a:rPr lang="en-US" sz="2800" dirty="0"/>
              <a:t> </a:t>
            </a:r>
            <a:r>
              <a:rPr lang="en-US" sz="2800" dirty="0" err="1"/>
              <a:t>informacija</a:t>
            </a:r>
            <a:r>
              <a:rPr lang="en-US" sz="2800" dirty="0"/>
              <a:t> </a:t>
            </a:r>
            <a:r>
              <a:rPr lang="en-US" sz="2800" dirty="0" err="1"/>
              <a:t>uz</a:t>
            </a:r>
            <a:r>
              <a:rPr lang="en-US" sz="2800" dirty="0"/>
              <a:t> </a:t>
            </a:r>
            <a:r>
              <a:rPr lang="en-US" sz="2800" dirty="0" err="1"/>
              <a:t>minimalne</a:t>
            </a:r>
            <a:r>
              <a:rPr lang="en-US" sz="2800" dirty="0"/>
              <a:t> </a:t>
            </a:r>
            <a:r>
              <a:rPr lang="en-US" sz="2800" dirty="0" err="1"/>
              <a:t>greške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2607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305</TotalTime>
  <Words>889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Wisp</vt:lpstr>
      <vt:lpstr>Baze podataka</vt:lpstr>
      <vt:lpstr>Pojam baze podataka</vt:lpstr>
      <vt:lpstr>Pojam baze podataka</vt:lpstr>
      <vt:lpstr>Pojam baze podataka</vt:lpstr>
      <vt:lpstr>Pojam baze podataka</vt:lpstr>
      <vt:lpstr>Pojam baze podataka</vt:lpstr>
      <vt:lpstr>Pojam baze podataka</vt:lpstr>
      <vt:lpstr>Pojam baze podataka</vt:lpstr>
      <vt:lpstr>Pojam baze podataka</vt:lpstr>
      <vt:lpstr>Pojam baze podataka</vt:lpstr>
      <vt:lpstr>Pojam baze podataka</vt:lpstr>
      <vt:lpstr>Kreiranje baza podataka</vt:lpstr>
      <vt:lpstr>Kreiranje baza podataka</vt:lpstr>
      <vt:lpstr>Kreiranje baza podataka</vt:lpstr>
      <vt:lpstr>Rad s tabelama</vt:lpstr>
      <vt:lpstr>Rad s tabelama</vt:lpstr>
      <vt:lpstr>Rad s tabelama</vt:lpstr>
      <vt:lpstr>Veza između tabela</vt:lpstr>
      <vt:lpstr>Veza između tabela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Baze podataka</dc:title>
  <dc:creator>JA</dc:creator>
  <cp:lastModifiedBy>JA</cp:lastModifiedBy>
  <cp:revision>6</cp:revision>
  <dcterms:created xsi:type="dcterms:W3CDTF">2026-03-11T07:53:02Z</dcterms:created>
  <dcterms:modified xsi:type="dcterms:W3CDTF">2026-03-11T12:58:09Z</dcterms:modified>
</cp:coreProperties>
</file>